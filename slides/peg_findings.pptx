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Files: run_continuous.py (C5) → _cache_v2/C5.pkl; tasks_findings/20, 11; FINDINGS_MAP T1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Files: run_locus.py (C6) → C6_K200.pkl; exact_foc.py; slides/make_figs.py; FINDINGS_MAP T2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Files: game_experiments/t390_local_slice.py → _scripts/83_t390_local_slice.pkl; multi_step_game.py; FINDINGS_MAP T4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Files: tasks_findings/_scripts/15_v_shape.py, 82_paper_audit.py; slides/make_figs.py; FINDINGS_MAP T15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Files: single_step_*.py, two_step_*.py, _scripts/46, 66; nummeric_eval §7–15; FINDINGS_MAP T3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Files: run_locus.py (C7) → C7_K200.pkl; run_cycle_zoom.py; FINDINGS_MAP T6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Files: run_locus.py (C8), run_continuous.py (C2), run_nplayer.py; tasks_findings/07, 19; FINDINGS_MAP T7, T10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Files: game/mechanism_scale.py, run_scale.py → _cache_scale/; tasks_findings/18; FINDINGS_MAP T11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Files: _scripts/59_alt_plays.py → 59_alt_plays_summary.txt; nummeric_eval §22; FINDINGS_MAP T9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Files: game_experiments/run_flpop_e1.py, flpop_common.py → _cache_flpop/E1_pop*.json; tasks_findings/28; FINDINGS_MAP T10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Files: run_continuous.py (C4), run_h4.py → C4.pkl, H4.pkl; tasks_findings/13; FINDINGS_MAP T12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Files: experiment_scripts/mia/04_mia_pergroup.py, _scripts/24_*; _cache_H1; audit_h1_sigma.py; FINDINGS_MAP T13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Files: tasks_findings/04, 08; nummeric_eval §16; paper/tex/07_mitigation.tex; FINDINGS_MAP T14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Holds: externality sign, 43-NE frontier structure, ratio band, Hawk–Dove numbers, λ-ratio sorting 170/174, PoEV sweep, sensitivity-based control, H4 values.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3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600200"/>
            <a:ext cx="1097280" cy="73152"/>
          </a:xfrm>
          <a:prstGeom prst="rect">
            <a:avLst/>
          </a:prstGeom>
          <a:solidFill>
            <a:srgbClr val="FD8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783080"/>
            <a:ext cx="10789920" cy="914400"/>
          </a:xfrm>
          <a:prstGeom prst="rect">
            <a:avLst/>
          </a:prstGeom>
          <a:noFill/>
        </p:spPr>
        <p:txBody>
          <a:bodyPr wrap="square" anchor="t" lIns="45720" rIns="45720" tIns="27432" bIns="27432">
            <a:spAutoFit/>
          </a:bodyPr>
          <a:lstStyle/>
          <a:p>
            <a:pPr algn="l">
              <a:spcAft>
                <a:spcPts val="500"/>
              </a:spcAft>
            </a:pPr>
            <a:r>
              <a:rPr sz="4200" b="1">
                <a:solidFill>
                  <a:srgbClr val="FFFFFF"/>
                </a:solidFill>
                <a:latin typeface="Calibri"/>
              </a:rPr>
              <a:t>The Privacy Externality Game</a:t>
            </a:r>
          </a:p>
        </p:txBody>
      </p:sp>
      <p:sp>
        <p:nvSpPr>
          <p:cNvPr id="5" name="TextBox 4"/>
          <p:cNvSpPr txBox="1"/>
          <p:nvPr/>
        </p:nvSpPr>
        <p:spPr>
          <a:xfrm>
            <a:off x="685800" y="2606040"/>
            <a:ext cx="10789920" cy="640080"/>
          </a:xfrm>
          <a:prstGeom prst="rect">
            <a:avLst/>
          </a:prstGeom>
          <a:noFill/>
        </p:spPr>
        <p:txBody>
          <a:bodyPr wrap="square" anchor="t" lIns="45720" rIns="45720" tIns="27432" bIns="27432">
            <a:spAutoFit/>
          </a:bodyPr>
          <a:lstStyle/>
          <a:p>
            <a:pPr algn="l">
              <a:spcAft>
                <a:spcPts val="500"/>
              </a:spcAft>
            </a:pPr>
            <a:r>
              <a:rPr sz="2200" b="0">
                <a:solidFill>
                  <a:srgbClr val="C9D6EA"/>
                </a:solidFill>
                <a:latin typeface="Calibri"/>
              </a:rPr>
              <a:t>Strategic budget choices in sampling-based individual differential privacy</a:t>
            </a:r>
          </a:p>
        </p:txBody>
      </p:sp>
      <p:sp>
        <p:nvSpPr>
          <p:cNvPr id="6" name="TextBox 5"/>
          <p:cNvSpPr txBox="1"/>
          <p:nvPr/>
        </p:nvSpPr>
        <p:spPr>
          <a:xfrm>
            <a:off x="685800" y="3200400"/>
            <a:ext cx="10789920" cy="822960"/>
          </a:xfrm>
          <a:prstGeom prst="rect">
            <a:avLst/>
          </a:prstGeom>
          <a:noFill/>
        </p:spPr>
        <p:txBody>
          <a:bodyPr wrap="square" anchor="t" lIns="45720" rIns="45720" tIns="27432" bIns="27432">
            <a:spAutoFit/>
          </a:bodyPr>
          <a:lstStyle/>
          <a:p>
            <a:pPr algn="l">
              <a:spcAft>
                <a:spcPts val="400"/>
              </a:spcAft>
            </a:pPr>
            <a:r>
              <a:rPr sz="1350" b="0">
                <a:solidFill>
                  <a:srgbClr val="E6ECF5"/>
                </a:solidFill>
                <a:latin typeface="Calibri"/>
              </a:rPr>
              <a:t>Silos declare ε</a:t>
            </a:r>
            <a:r>
              <a:rPr sz="1350" b="0" baseline="-25000">
                <a:solidFill>
                  <a:srgbClr val="E6ECF5"/>
                </a:solidFill>
                <a:latin typeface="Calibri"/>
              </a:rPr>
              <a:t>i</a:t>
            </a:r>
            <a:r>
              <a:rPr sz="1350" b="0">
                <a:solidFill>
                  <a:srgbClr val="E6ECF5"/>
                </a:solidFill>
                <a:latin typeface="Calibri"/>
              </a:rPr>
              <a:t>; the mechanism solves one σ and rates p</a:t>
            </a:r>
            <a:r>
              <a:rPr sz="1350" b="0" baseline="-25000">
                <a:solidFill>
                  <a:srgbClr val="E6ECF5"/>
                </a:solidFill>
                <a:latin typeface="Calibri"/>
              </a:rPr>
              <a:t>i</a:t>
            </a:r>
            <a:r>
              <a:rPr sz="1350" b="0">
                <a:solidFill>
                  <a:srgbClr val="E6ECF5"/>
                </a:solidFill>
                <a:latin typeface="Calibri"/>
              </a:rPr>
              <a:t> (every budget binds, Σ|G</a:t>
            </a:r>
            <a:r>
              <a:rPr sz="1350" b="0" baseline="-25000">
                <a:solidFill>
                  <a:srgbClr val="E6ECF5"/>
                </a:solidFill>
                <a:latin typeface="Calibri"/>
              </a:rPr>
              <a:t>i</a:t>
            </a:r>
            <a:r>
              <a:rPr sz="1350" b="0">
                <a:solidFill>
                  <a:srgbClr val="E6ECF5"/>
                </a:solidFill>
                <a:latin typeface="Calibri"/>
              </a:rPr>
              <a:t>|p</a:t>
            </a:r>
            <a:r>
              <a:rPr sz="1350" b="0" baseline="-25000">
                <a:solidFill>
                  <a:srgbClr val="E6ECF5"/>
                </a:solidFill>
                <a:latin typeface="Calibri"/>
              </a:rPr>
              <a:t>i</a:t>
            </a:r>
            <a:r>
              <a:rPr sz="1350" b="0">
                <a:solidFill>
                  <a:srgbClr val="E6ECF5"/>
                </a:solidFill>
                <a:latin typeface="Calibri"/>
              </a:rPr>
              <a:t> = B); each silo maximises  u</a:t>
            </a:r>
            <a:r>
              <a:rPr sz="1350" b="0" baseline="-25000">
                <a:solidFill>
                  <a:srgbClr val="E6ECF5"/>
                </a:solidFill>
                <a:latin typeface="Calibri"/>
              </a:rPr>
              <a:t>i</a:t>
            </a:r>
            <a:r>
              <a:rPr sz="1350" b="0">
                <a:solidFill>
                  <a:srgbClr val="E6ECF5"/>
                </a:solidFill>
                <a:latin typeface="Calibri"/>
              </a:rPr>
              <a:t> = V(σ) − λ</a:t>
            </a:r>
            <a:r>
              <a:rPr sz="1350" b="0" baseline="-25000">
                <a:solidFill>
                  <a:srgbClr val="E6ECF5"/>
                </a:solidFill>
                <a:latin typeface="Calibri"/>
              </a:rPr>
              <a:t>i</a:t>
            </a:r>
            <a:r>
              <a:rPr sz="1350" b="0">
                <a:solidFill>
                  <a:srgbClr val="E6ECF5"/>
                </a:solidFill>
                <a:latin typeface="Calibri"/>
              </a:rPr>
              <a:t> A</a:t>
            </a:r>
            <a:r>
              <a:rPr sz="1350" b="0" baseline="-25000">
                <a:solidFill>
                  <a:srgbClr val="E6ECF5"/>
                </a:solidFill>
                <a:latin typeface="Calibri"/>
              </a:rPr>
              <a:t>PLD,i</a:t>
            </a:r>
            <a:r>
              <a:rPr sz="1350" b="0">
                <a:solidFill>
                  <a:srgbClr val="E6ECF5"/>
                </a:solidFill>
                <a:latin typeface="Calibri"/>
              </a:rPr>
              <a:t>.</a:t>
            </a:r>
          </a:p>
          <a:p>
            <a:pPr algn="l">
              <a:spcAft>
                <a:spcPts val="400"/>
              </a:spcAft>
            </a:pPr>
            <a:r>
              <a:rPr sz="1350" b="0">
                <a:solidFill>
                  <a:srgbClr val="E6ECF5"/>
                </a:solidFill>
                <a:latin typeface="Calibri"/>
              </a:rPr>
              <a:t>Canonical instance: 2 silos × 5000 records, B = 128, T = 390, δ = 10</a:t>
            </a:r>
            <a:r>
              <a:rPr sz="1350" b="0" baseline="30000">
                <a:solidFill>
                  <a:srgbClr val="E6ECF5"/>
                </a:solidFill>
                <a:latin typeface="Calibri"/>
              </a:rPr>
              <a:t>−12</a:t>
            </a:r>
            <a:r>
              <a:rPr sz="1350" b="0">
                <a:solidFill>
                  <a:srgbClr val="E6ECF5"/>
                </a:solidFill>
                <a:latin typeface="Calibri"/>
              </a:rPr>
              <a:t>, ε ∈ [0.5, 64], λ = 1.</a:t>
            </a:r>
          </a:p>
        </p:txBody>
      </p:sp>
      <p:sp>
        <p:nvSpPr>
          <p:cNvPr id="7" name="TextBox 6"/>
          <p:cNvSpPr txBox="1"/>
          <p:nvPr/>
        </p:nvSpPr>
        <p:spPr>
          <a:xfrm>
            <a:off x="685800" y="4069080"/>
            <a:ext cx="10789920" cy="274320"/>
          </a:xfrm>
          <a:prstGeom prst="rect">
            <a:avLst/>
          </a:prstGeom>
          <a:noFill/>
        </p:spPr>
        <p:txBody>
          <a:bodyPr wrap="square" anchor="t" lIns="45720" rIns="45720" tIns="27432" bIns="27432">
            <a:spAutoFit/>
          </a:bodyPr>
          <a:lstStyle/>
          <a:p>
            <a:pPr algn="l">
              <a:spcAft>
                <a:spcPts val="500"/>
              </a:spcAft>
            </a:pPr>
            <a:r>
              <a:rPr sz="1100" b="1">
                <a:solidFill>
                  <a:srgbClr val="FD8C3B"/>
                </a:solidFill>
                <a:latin typeface="Calibri"/>
              </a:rPr>
              <a:t>IN PLAIN WORDS</a:t>
            </a:r>
          </a:p>
        </p:txBody>
      </p:sp>
      <p:sp>
        <p:nvSpPr>
          <p:cNvPr id="8" name="TextBox 7"/>
          <p:cNvSpPr txBox="1"/>
          <p:nvPr/>
        </p:nvSpPr>
        <p:spPr>
          <a:xfrm>
            <a:off x="685800" y="4315968"/>
            <a:ext cx="10789920" cy="640080"/>
          </a:xfrm>
          <a:prstGeom prst="rect">
            <a:avLst/>
          </a:prstGeom>
          <a:noFill/>
        </p:spPr>
        <p:txBody>
          <a:bodyPr wrap="square" anchor="t" lIns="45720" rIns="45720" tIns="27432" bIns="27432">
            <a:spAutoFit/>
          </a:bodyPr>
          <a:lstStyle/>
          <a:p>
            <a:pPr algn="l">
              <a:spcAft>
                <a:spcPts val="500"/>
              </a:spcAft>
            </a:pPr>
            <a:r>
              <a:rPr sz="1300" b="0">
                <a:solidFill>
                  <a:srgbClr val="FFFFFF"/>
                </a:solidFill>
                <a:latin typeface="Calibri"/>
              </a:rPr>
              <a:t>With individual differential privacy, each data owner picks how private their data should be. In the popular sampling-based version, all choices are tied together through one shared batch and one shared noise level, so your privacy depends on what everyone else picks. We ask what happens when everyone picks rationally.</a:t>
            </a:r>
          </a:p>
        </p:txBody>
      </p:sp>
      <p:sp>
        <p:nvSpPr>
          <p:cNvPr id="9" name="TextBox 8"/>
          <p:cNvSpPr txBox="1"/>
          <p:nvPr/>
        </p:nvSpPr>
        <p:spPr>
          <a:xfrm>
            <a:off x="685800" y="5120640"/>
            <a:ext cx="3657600" cy="274320"/>
          </a:xfrm>
          <a:prstGeom prst="rect">
            <a:avLst/>
          </a:prstGeom>
          <a:noFill/>
        </p:spPr>
        <p:txBody>
          <a:bodyPr wrap="square" anchor="t" lIns="45720" rIns="45720" tIns="27432" bIns="27432">
            <a:spAutoFit/>
          </a:bodyPr>
          <a:lstStyle/>
          <a:p>
            <a:pPr algn="l">
              <a:spcAft>
                <a:spcPts val="500"/>
              </a:spcAft>
            </a:pPr>
            <a:r>
              <a:rPr sz="1100" b="1">
                <a:solidFill>
                  <a:srgbClr val="FD8C3B"/>
                </a:solidFill>
                <a:latin typeface="Calibri"/>
              </a:rPr>
              <a:t>EVERY SLIDE: ONE FINDING, WITH A TRUST LEVEL</a:t>
            </a:r>
          </a:p>
        </p:txBody>
      </p:sp>
      <p:sp>
        <p:nvSpPr>
          <p:cNvPr id="10" name="Rounded Rectangle 9"/>
          <p:cNvSpPr/>
          <p:nvPr/>
        </p:nvSpPr>
        <p:spPr>
          <a:xfrm>
            <a:off x="731520" y="5440680"/>
            <a:ext cx="1600200" cy="27432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a:solidFill>
                  <a:srgbClr val="FFFFFF"/>
                </a:solidFill>
                <a:latin typeface="Calibri"/>
              </a:rPr>
              <a:t>A · proved / exact</a:t>
            </a:r>
          </a:p>
        </p:txBody>
      </p:sp>
      <p:sp>
        <p:nvSpPr>
          <p:cNvPr id="11" name="TextBox 10"/>
          <p:cNvSpPr txBox="1"/>
          <p:nvPr/>
        </p:nvSpPr>
        <p:spPr>
          <a:xfrm>
            <a:off x="2468880" y="5422392"/>
            <a:ext cx="8229600" cy="320040"/>
          </a:xfrm>
          <a:prstGeom prst="rect">
            <a:avLst/>
          </a:prstGeom>
          <a:noFill/>
        </p:spPr>
        <p:txBody>
          <a:bodyPr wrap="square" anchor="t" lIns="45720" rIns="45720" tIns="27432" bIns="27432">
            <a:spAutoFit/>
          </a:bodyPr>
          <a:lstStyle/>
          <a:p>
            <a:pPr algn="l">
              <a:spcAft>
                <a:spcPts val="500"/>
              </a:spcAft>
            </a:pPr>
            <a:r>
              <a:rPr sz="1200" b="0">
                <a:solidFill>
                  <a:srgbClr val="E6ECF5"/>
                </a:solidFill>
                <a:latin typeface="Calibri"/>
              </a:rPr>
              <a:t>analytic proof or exact accounting (closed form / certified)</a:t>
            </a:r>
          </a:p>
        </p:txBody>
      </p:sp>
      <p:sp>
        <p:nvSpPr>
          <p:cNvPr id="12" name="Rounded Rectangle 11"/>
          <p:cNvSpPr/>
          <p:nvPr/>
        </p:nvSpPr>
        <p:spPr>
          <a:xfrm>
            <a:off x="731520" y="5769864"/>
            <a:ext cx="1600200" cy="274320"/>
          </a:xfrm>
          <a:prstGeom prst="roundRect">
            <a:avLst>
              <a:gd name="adj" fmla="val 50000"/>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a:solidFill>
                  <a:srgbClr val="FFFFFF"/>
                </a:solidFill>
                <a:latin typeface="Calibri"/>
              </a:rPr>
              <a:t>B · solid numerics</a:t>
            </a:r>
          </a:p>
        </p:txBody>
      </p:sp>
      <p:sp>
        <p:nvSpPr>
          <p:cNvPr id="13" name="TextBox 12"/>
          <p:cNvSpPr txBox="1"/>
          <p:nvPr/>
        </p:nvSpPr>
        <p:spPr>
          <a:xfrm>
            <a:off x="2468880" y="5751576"/>
            <a:ext cx="8229600" cy="320040"/>
          </a:xfrm>
          <a:prstGeom prst="rect">
            <a:avLst/>
          </a:prstGeom>
          <a:noFill/>
        </p:spPr>
        <p:txBody>
          <a:bodyPr wrap="square" anchor="t" lIns="45720" rIns="45720" tIns="27432" bIns="27432">
            <a:spAutoFit/>
          </a:bodyPr>
          <a:lstStyle/>
          <a:p>
            <a:pPr algn="l">
              <a:spcAft>
                <a:spcPts val="500"/>
              </a:spcAft>
            </a:pPr>
            <a:r>
              <a:rPr sz="1200" b="0">
                <a:solidFill>
                  <a:srgbClr val="E6ECF5"/>
                </a:solidFill>
                <a:latin typeface="Calibri"/>
              </a:rPr>
              <a:t>post-fix deployed-accountant numerics, K = 200 grid</a:t>
            </a:r>
          </a:p>
        </p:txBody>
      </p:sp>
      <p:sp>
        <p:nvSpPr>
          <p:cNvPr id="14" name="Rounded Rectangle 13"/>
          <p:cNvSpPr/>
          <p:nvPr/>
        </p:nvSpPr>
        <p:spPr>
          <a:xfrm>
            <a:off x="731520" y="6099048"/>
            <a:ext cx="1600200" cy="274320"/>
          </a:xfrm>
          <a:prstGeom prst="roundRect">
            <a:avLst>
              <a:gd name="adj" fmla="val 50000"/>
            </a:avLst>
          </a:prstGeom>
          <a:solidFill>
            <a:srgbClr val="E68A0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a:solidFill>
                  <a:srgbClr val="FFFFFF"/>
                </a:solidFill>
                <a:latin typeface="Calibri"/>
              </a:rPr>
              <a:t>C · provisional</a:t>
            </a:r>
          </a:p>
        </p:txBody>
      </p:sp>
      <p:sp>
        <p:nvSpPr>
          <p:cNvPr id="15" name="TextBox 14"/>
          <p:cNvSpPr txBox="1"/>
          <p:nvPr/>
        </p:nvSpPr>
        <p:spPr>
          <a:xfrm>
            <a:off x="2468880" y="6080759"/>
            <a:ext cx="8229600" cy="320040"/>
          </a:xfrm>
          <a:prstGeom prst="rect">
            <a:avLst/>
          </a:prstGeom>
          <a:noFill/>
        </p:spPr>
        <p:txBody>
          <a:bodyPr wrap="square" anchor="t" lIns="45720" rIns="45720" tIns="27432" bIns="27432">
            <a:spAutoFit/>
          </a:bodyPr>
          <a:lstStyle/>
          <a:p>
            <a:pPr algn="l">
              <a:spcAft>
                <a:spcPts val="500"/>
              </a:spcAft>
            </a:pPr>
            <a:r>
              <a:rPr sz="1200" b="0">
                <a:solidFill>
                  <a:srgbClr val="E6ECF5"/>
                </a:solidFill>
                <a:latin typeface="Calibri"/>
              </a:rPr>
              <a:t>pre-fix, coarse, or single-configuration evidence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320040"/>
          </a:xfrm>
          <a:prstGeom prst="rect">
            <a:avLst/>
          </a:prstGeom>
          <a:noFill/>
        </p:spPr>
        <p:txBody>
          <a:bodyPr wrap="square" anchor="t" lIns="45720" rIns="45720" tIns="27432" bIns="27432">
            <a:spAutoFit/>
          </a:bodyPr>
          <a:lstStyle/>
          <a:p>
            <a:pPr algn="l">
              <a:spcAft>
                <a:spcPts val="500"/>
              </a:spcAft>
            </a:pPr>
            <a:r>
              <a:rPr sz="1200" b="1">
                <a:solidFill>
                  <a:srgbClr val="FD8C3B"/>
                </a:solidFill>
                <a:latin typeface="Calibri"/>
              </a:rPr>
              <a:t>FINDING 1 · THE EXTERNALITY</a:t>
            </a:r>
          </a:p>
        </p:txBody>
      </p:sp>
      <p:sp>
        <p:nvSpPr>
          <p:cNvPr id="3" name="TextBox 2"/>
          <p:cNvSpPr txBox="1"/>
          <p:nvPr/>
        </p:nvSpPr>
        <p:spPr>
          <a:xfrm>
            <a:off x="502920" y="566928"/>
            <a:ext cx="11247120" cy="868680"/>
          </a:xfrm>
          <a:prstGeom prst="rect">
            <a:avLst/>
          </a:prstGeom>
          <a:noFill/>
        </p:spPr>
        <p:txBody>
          <a:bodyPr wrap="square" anchor="t" lIns="45720" rIns="45720" tIns="27432" bIns="27432">
            <a:spAutoFit/>
          </a:bodyPr>
          <a:lstStyle/>
          <a:p>
            <a:pPr algn="l">
              <a:spcAft>
                <a:spcPts val="500"/>
              </a:spcAft>
            </a:pPr>
            <a:r>
              <a:rPr sz="2600" b="1">
                <a:solidFill>
                  <a:srgbClr val="08306B"/>
                </a:solidFill>
                <a:latin typeface="Calibri"/>
              </a:rPr>
              <a:t>Your risk is set by the others' budgets, not by your contract</a:t>
            </a:r>
          </a:p>
        </p:txBody>
      </p:sp>
      <p:cxnSp>
        <p:nvCxnSpPr>
          <p:cNvPr id="4" name="Connector 3"/>
          <p:cNvCxnSpPr/>
          <p:nvPr/>
        </p:nvCxnSpPr>
        <p:spPr>
          <a:xfrm>
            <a:off x="548640" y="1417320"/>
            <a:ext cx="11091672" cy="0"/>
          </a:xfrm>
          <a:prstGeom prst="line">
            <a:avLst/>
          </a:prstGeom>
          <a:ln w="12700">
            <a:solidFill>
              <a:srgbClr val="D0D6D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46520"/>
            <a:ext cx="7315200" cy="274320"/>
          </a:xfrm>
          <a:prstGeom prst="rect">
            <a:avLst/>
          </a:prstGeom>
          <a:noFill/>
        </p:spPr>
        <p:txBody>
          <a:bodyPr wrap="square" anchor="t" lIns="45720" rIns="45720" tIns="27432" bIns="27432">
            <a:spAutoFit/>
          </a:bodyPr>
          <a:lstStyle/>
          <a:p>
            <a:pPr algn="l">
              <a:spcAft>
                <a:spcPts val="500"/>
              </a:spcAft>
            </a:pPr>
            <a:r>
              <a:rPr sz="900" b="0">
                <a:solidFill>
                  <a:srgbClr val="8A8A8A"/>
                </a:solidFill>
                <a:latin typeface="Calibri"/>
              </a:rPr>
              <a:t>The Privacy Externality Game · strategic budgets in sampling-based iDP</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spcAft>
                <a:spcPts val="500"/>
              </a:spcAft>
            </a:pPr>
            <a:r>
              <a:rPr sz="900" b="0">
                <a:solidFill>
                  <a:srgbClr val="8A8A8A"/>
                </a:solidFill>
                <a:latin typeface="Calibri"/>
              </a:rPr>
              <a:t>2</a:t>
            </a:r>
          </a:p>
        </p:txBody>
      </p:sp>
      <p:pic>
        <p:nvPicPr>
          <p:cNvPr id="7" name="Picture 6" descr="fig_C5_surface.png"/>
          <p:cNvPicPr>
            <a:picLocks noChangeAspect="1"/>
          </p:cNvPicPr>
          <p:nvPr/>
        </p:nvPicPr>
        <p:blipFill>
          <a:blip r:embed="rId2"/>
          <a:stretch>
            <a:fillRect/>
          </a:stretch>
        </p:blipFill>
        <p:spPr>
          <a:xfrm>
            <a:off x="502920" y="1939436"/>
            <a:ext cx="6766560" cy="2576790"/>
          </a:xfrm>
          <a:prstGeom prst="rect">
            <a:avLst/>
          </a:prstGeom>
        </p:spPr>
      </p:pic>
      <p:sp>
        <p:nvSpPr>
          <p:cNvPr id="8" name="TextBox 7"/>
          <p:cNvSpPr txBox="1"/>
          <p:nvPr/>
        </p:nvSpPr>
        <p:spPr>
          <a:xfrm>
            <a:off x="502920" y="4882896"/>
            <a:ext cx="6766560" cy="457200"/>
          </a:xfrm>
          <a:prstGeom prst="rect">
            <a:avLst/>
          </a:prstGeom>
          <a:noFill/>
        </p:spPr>
        <p:txBody>
          <a:bodyPr wrap="square" anchor="t" lIns="45720" rIns="45720" tIns="27432" bIns="27432">
            <a:spAutoFit/>
          </a:bodyPr>
          <a:lstStyle/>
          <a:p>
            <a:pPr algn="l">
              <a:spcAft>
                <a:spcPts val="500"/>
              </a:spcAft>
            </a:pPr>
            <a:r>
              <a:rPr sz="1000" b="0">
                <a:solidFill>
                  <a:srgbClr val="6A6A6A"/>
                </a:solidFill>
                <a:latin typeface="Calibri"/>
              </a:rPr>
              <a:t>Paper Fig. 15. Canonical instance, deployed RDP accountant.</a:t>
            </a:r>
          </a:p>
        </p:txBody>
      </p:sp>
      <p:sp>
        <p:nvSpPr>
          <p:cNvPr id="9" name="Rectangle 8"/>
          <p:cNvSpPr/>
          <p:nvPr/>
        </p:nvSpPr>
        <p:spPr>
          <a:xfrm>
            <a:off x="502920" y="5175504"/>
            <a:ext cx="6766560" cy="1207008"/>
          </a:xfrm>
          <a:prstGeom prst="rect">
            <a:avLst/>
          </a:prstGeom>
          <a:solidFill>
            <a:srgbClr val="FF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175504"/>
            <a:ext cx="54864" cy="1207008"/>
          </a:xfrm>
          <a:prstGeom prst="rect">
            <a:avLst/>
          </a:prstGeom>
          <a:solidFill>
            <a:srgbClr val="FD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5230368"/>
            <a:ext cx="6492240" cy="256032"/>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IN PLAIN WORDS</a:t>
            </a:r>
          </a:p>
        </p:txBody>
      </p:sp>
      <p:sp>
        <p:nvSpPr>
          <p:cNvPr id="12" name="TextBox 11"/>
          <p:cNvSpPr txBox="1"/>
          <p:nvPr/>
        </p:nvSpPr>
        <p:spPr>
          <a:xfrm>
            <a:off x="667512" y="5477256"/>
            <a:ext cx="6492240" cy="859536"/>
          </a:xfrm>
          <a:prstGeom prst="rect">
            <a:avLst/>
          </a:prstGeom>
          <a:noFill/>
        </p:spPr>
        <p:txBody>
          <a:bodyPr wrap="square" anchor="t" lIns="45720" rIns="45720" tIns="27432" bIns="27432">
            <a:spAutoFit/>
          </a:bodyPr>
          <a:lstStyle/>
          <a:p>
            <a:pPr algn="l">
              <a:spcAft>
                <a:spcPts val="500"/>
              </a:spcAft>
            </a:pPr>
            <a:r>
              <a:rPr sz="1100" b="0">
                <a:solidFill>
                  <a:srgbClr val="4D4D4D"/>
                </a:solidFill>
                <a:latin typeface="Calibri"/>
              </a:rPr>
              <a:t>Each training batch has a fixed number of seats. If the other group asks for more privacy, it takes fewer seats, so your records are drawn more often to fill the batch, and more noise is added. The extra sampling outweighs the extra noise: your data leaks more, although your own setting never changed.</a:t>
            </a:r>
          </a:p>
        </p:txBody>
      </p:sp>
      <p:sp>
        <p:nvSpPr>
          <p:cNvPr id="13" name="TextBox 12"/>
          <p:cNvSpPr txBox="1"/>
          <p:nvPr/>
        </p:nvSpPr>
        <p:spPr>
          <a:xfrm>
            <a:off x="7543800" y="1572768"/>
            <a:ext cx="419069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WHAT WE LOOKED AT</a:t>
            </a:r>
          </a:p>
        </p:txBody>
      </p:sp>
      <p:sp>
        <p:nvSpPr>
          <p:cNvPr id="14" name="TextBox 13"/>
          <p:cNvSpPr txBox="1"/>
          <p:nvPr/>
        </p:nvSpPr>
        <p:spPr>
          <a:xfrm>
            <a:off x="7543800" y="1847088"/>
            <a:ext cx="4190695" cy="1143000"/>
          </a:xfrm>
          <a:prstGeom prst="rect">
            <a:avLst/>
          </a:prstGeom>
          <a:noFill/>
        </p:spPr>
        <p:txBody>
          <a:bodyPr wrap="square" anchor="t" lIns="45720" rIns="45720" tIns="27432" bIns="27432">
            <a:spAutoFit/>
          </a:bodyPr>
          <a:lstStyle/>
          <a:p>
            <a:pPr algn="l">
              <a:spcAft>
                <a:spcPts val="500"/>
              </a:spcAft>
            </a:pPr>
            <a:r>
              <a:rPr sz="1150" b="1">
                <a:solidFill>
                  <a:srgbClr val="FD8C3B"/>
                </a:solidFill>
                <a:latin typeface="Calibri"/>
              </a:rPr>
              <a:t>•  </a:t>
            </a:r>
            <a:r>
              <a:rPr sz="1150" b="0">
                <a:solidFill>
                  <a:srgbClr val="4D4D4D"/>
                </a:solidFill>
                <a:latin typeface="Calibri"/>
              </a:rPr>
              <a:t>Target budget fixed (ε</a:t>
            </a:r>
            <a:r>
              <a:rPr sz="1150" b="0" baseline="-25000">
                <a:solidFill>
                  <a:srgbClr val="4D4D4D"/>
                </a:solidFill>
                <a:latin typeface="Calibri"/>
              </a:rPr>
              <a:t>T</a:t>
            </a:r>
            <a:r>
              <a:rPr sz="1150" b="0">
                <a:solidFill>
                  <a:srgbClr val="4D4D4D"/>
                </a:solidFill>
                <a:latin typeface="Calibri"/>
              </a:rPr>
              <a:t> = 4, 16); other group's budget ε</a:t>
            </a:r>
            <a:r>
              <a:rPr sz="1150" b="0" baseline="-25000">
                <a:solidFill>
                  <a:srgbClr val="4D4D4D"/>
                </a:solidFill>
                <a:latin typeface="Calibri"/>
              </a:rPr>
              <a:t>O</a:t>
            </a:r>
            <a:r>
              <a:rPr sz="1150" b="0">
                <a:solidFill>
                  <a:srgbClr val="4D4D4D"/>
                </a:solidFill>
                <a:latin typeface="Calibri"/>
              </a:rPr>
              <a:t> and data share (0.2–0.8) swept; A</a:t>
            </a:r>
            <a:r>
              <a:rPr sz="1150" b="0" baseline="-25000">
                <a:solidFill>
                  <a:srgbClr val="4D4D4D"/>
                </a:solidFill>
                <a:latin typeface="Calibri"/>
              </a:rPr>
              <a:t>PLD</a:t>
            </a:r>
            <a:r>
              <a:rPr sz="1150" b="0">
                <a:solidFill>
                  <a:srgbClr val="4D4D4D"/>
                </a:solidFill>
                <a:latin typeface="Calibri"/>
              </a:rPr>
              <a:t> by exact PLD accounting.</a:t>
            </a:r>
          </a:p>
        </p:txBody>
      </p:sp>
      <p:sp>
        <p:nvSpPr>
          <p:cNvPr id="15" name="TextBox 14"/>
          <p:cNvSpPr txBox="1"/>
          <p:nvPr/>
        </p:nvSpPr>
        <p:spPr>
          <a:xfrm>
            <a:off x="7543800" y="3017520"/>
            <a:ext cx="419069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WHAT WE FOUND</a:t>
            </a:r>
          </a:p>
        </p:txBody>
      </p:sp>
      <p:sp>
        <p:nvSpPr>
          <p:cNvPr id="16" name="TextBox 15"/>
          <p:cNvSpPr txBox="1"/>
          <p:nvPr/>
        </p:nvSpPr>
        <p:spPr>
          <a:xfrm>
            <a:off x="7543800" y="3291839"/>
            <a:ext cx="4190695" cy="1508760"/>
          </a:xfrm>
          <a:prstGeom prst="rect">
            <a:avLst/>
          </a:prstGeom>
          <a:noFill/>
        </p:spPr>
        <p:txBody>
          <a:bodyPr wrap="square" anchor="t" lIns="45720" rIns="45720" tIns="27432" bIns="27432">
            <a:spAutoFit/>
          </a:bodyPr>
          <a:lstStyle/>
          <a:p>
            <a:pPr algn="l">
              <a:spcAft>
                <a:spcPts val="500"/>
              </a:spcAft>
            </a:pPr>
            <a:r>
              <a:rPr sz="1250" b="1">
                <a:solidFill>
                  <a:srgbClr val="FD8C3B"/>
                </a:solidFill>
                <a:latin typeface="Calibri"/>
              </a:rPr>
              <a:t>•  </a:t>
            </a:r>
            <a:r>
              <a:rPr sz="1250" b="0">
                <a:solidFill>
                  <a:srgbClr val="4D4D4D"/>
                </a:solidFill>
                <a:latin typeface="Calibri"/>
              </a:rPr>
              <a:t>Same contract: A</a:t>
            </a:r>
            <a:r>
              <a:rPr sz="1250" b="0" baseline="-25000">
                <a:solidFill>
                  <a:srgbClr val="4D4D4D"/>
                </a:solidFill>
                <a:latin typeface="Calibri"/>
              </a:rPr>
              <a:t>PLD</a:t>
            </a:r>
            <a:r>
              <a:rPr sz="1250" b="0">
                <a:solidFill>
                  <a:srgbClr val="4D4D4D"/>
                </a:solidFill>
                <a:latin typeface="Calibri"/>
              </a:rPr>
              <a:t> falls </a:t>
            </a:r>
            <a:r>
              <a:rPr sz="1250" b="1">
                <a:solidFill>
                  <a:srgbClr val="08306B"/>
                </a:solidFill>
                <a:latin typeface="Calibri"/>
              </a:rPr>
              <a:t>0.20 → ≈0</a:t>
            </a:r>
            <a:r>
              <a:rPr sz="1250" b="0">
                <a:solidFill>
                  <a:srgbClr val="4D4D4D"/>
                </a:solidFill>
                <a:latin typeface="Calibri"/>
              </a:rPr>
              <a:t> (ε</a:t>
            </a:r>
            <a:r>
              <a:rPr sz="1250" b="0" baseline="-25000">
                <a:solidFill>
                  <a:srgbClr val="4D4D4D"/>
                </a:solidFill>
                <a:latin typeface="Calibri"/>
              </a:rPr>
              <a:t>T</a:t>
            </a:r>
            <a:r>
              <a:rPr sz="1250" b="0">
                <a:solidFill>
                  <a:srgbClr val="4D4D4D"/>
                </a:solidFill>
                <a:latin typeface="Calibri"/>
              </a:rPr>
              <a:t>=4) and </a:t>
            </a:r>
            <a:r>
              <a:rPr sz="1250" b="1">
                <a:solidFill>
                  <a:srgbClr val="08306B"/>
                </a:solidFill>
                <a:latin typeface="Calibri"/>
              </a:rPr>
              <a:t>0.55 → 0.03</a:t>
            </a:r>
            <a:r>
              <a:rPr sz="1250" b="0">
                <a:solidFill>
                  <a:srgbClr val="4D4D4D"/>
                </a:solidFill>
                <a:latin typeface="Calibri"/>
              </a:rPr>
              <a:t> (ε</a:t>
            </a:r>
            <a:r>
              <a:rPr sz="1250" b="0" baseline="-25000">
                <a:solidFill>
                  <a:srgbClr val="4D4D4D"/>
                </a:solidFill>
                <a:latin typeface="Calibri"/>
              </a:rPr>
              <a:t>T</a:t>
            </a:r>
            <a:r>
              <a:rPr sz="1250" b="0">
                <a:solidFill>
                  <a:srgbClr val="4D4D4D"/>
                </a:solidFill>
                <a:latin typeface="Calibri"/>
              </a:rPr>
              <a:t>=16) as the others loosen.</a:t>
            </a:r>
          </a:p>
          <a:p>
            <a:pPr algn="l">
              <a:spcAft>
                <a:spcPts val="500"/>
              </a:spcAft>
            </a:pPr>
            <a:r>
              <a:rPr sz="1250" b="1">
                <a:solidFill>
                  <a:srgbClr val="FD8C3B"/>
                </a:solidFill>
                <a:latin typeface="Calibri"/>
              </a:rPr>
              <a:t>•  </a:t>
            </a:r>
            <a:r>
              <a:rPr sz="1250" b="0">
                <a:solidFill>
                  <a:srgbClr val="4D4D4D"/>
                </a:solidFill>
                <a:latin typeface="Calibri"/>
              </a:rPr>
              <a:t>Curves cross at ε</a:t>
            </a:r>
            <a:r>
              <a:rPr sz="1250" b="0" baseline="-25000">
                <a:solidFill>
                  <a:srgbClr val="4D4D4D"/>
                </a:solidFill>
                <a:latin typeface="Calibri"/>
              </a:rPr>
              <a:t>O</a:t>
            </a:r>
            <a:r>
              <a:rPr sz="1250" b="0">
                <a:solidFill>
                  <a:srgbClr val="4D4D4D"/>
                </a:solidFill>
                <a:latin typeface="Calibri"/>
              </a:rPr>
              <a:t> ≈ ε</a:t>
            </a:r>
            <a:r>
              <a:rPr sz="1250" b="0" baseline="-25000">
                <a:solidFill>
                  <a:srgbClr val="4D4D4D"/>
                </a:solidFill>
                <a:latin typeface="Calibri"/>
              </a:rPr>
              <a:t>T</a:t>
            </a:r>
            <a:r>
              <a:rPr sz="1250" b="0">
                <a:solidFill>
                  <a:srgbClr val="4D4D4D"/>
                </a:solidFill>
                <a:latin typeface="Calibri"/>
              </a:rPr>
              <a:t>: a large foreign share amplifies the effect below, damps it above.</a:t>
            </a:r>
          </a:p>
          <a:p>
            <a:pPr algn="l">
              <a:spcAft>
                <a:spcPts val="500"/>
              </a:spcAft>
            </a:pPr>
            <a:r>
              <a:rPr sz="1250" b="1">
                <a:solidFill>
                  <a:srgbClr val="FD8C3B"/>
                </a:solidFill>
                <a:latin typeface="Calibri"/>
              </a:rPr>
              <a:t>•  </a:t>
            </a:r>
            <a:r>
              <a:rPr sz="1250" b="0">
                <a:solidFill>
                  <a:srgbClr val="4D4D4D"/>
                </a:solidFill>
                <a:latin typeface="Calibri"/>
              </a:rPr>
              <a:t>Tightening any budget raises everyone else's A</a:t>
            </a:r>
            <a:r>
              <a:rPr sz="1250" b="0" baseline="-25000">
                <a:solidFill>
                  <a:srgbClr val="4D4D4D"/>
                </a:solidFill>
                <a:latin typeface="Calibri"/>
              </a:rPr>
              <a:t>PLD</a:t>
            </a:r>
            <a:r>
              <a:rPr sz="1250" b="0">
                <a:solidFill>
                  <a:srgbClr val="4D4D4D"/>
                </a:solidFill>
                <a:latin typeface="Calibri"/>
              </a:rPr>
              <a:t>.</a:t>
            </a:r>
          </a:p>
        </p:txBody>
      </p:sp>
      <p:sp>
        <p:nvSpPr>
          <p:cNvPr id="17" name="TextBox 16"/>
          <p:cNvSpPr txBox="1"/>
          <p:nvPr/>
        </p:nvSpPr>
        <p:spPr>
          <a:xfrm>
            <a:off x="7543800" y="4846320"/>
            <a:ext cx="419069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HOW MUCH TO TRUST IT</a:t>
            </a:r>
          </a:p>
        </p:txBody>
      </p:sp>
      <p:sp>
        <p:nvSpPr>
          <p:cNvPr id="18" name="Rounded Rectangle 17"/>
          <p:cNvSpPr/>
          <p:nvPr/>
        </p:nvSpPr>
        <p:spPr>
          <a:xfrm>
            <a:off x="7543800" y="5138928"/>
            <a:ext cx="1600200" cy="27432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a:solidFill>
                  <a:srgbClr val="FFFFFF"/>
                </a:solidFill>
                <a:latin typeface="Calibri"/>
              </a:rPr>
              <a:t>A · proved / exact</a:t>
            </a:r>
          </a:p>
        </p:txBody>
      </p:sp>
      <p:sp>
        <p:nvSpPr>
          <p:cNvPr id="19" name="Rounded Rectangle 18"/>
          <p:cNvSpPr/>
          <p:nvPr/>
        </p:nvSpPr>
        <p:spPr>
          <a:xfrm>
            <a:off x="9235440" y="5138928"/>
            <a:ext cx="1600200" cy="274320"/>
          </a:xfrm>
          <a:prstGeom prst="roundRect">
            <a:avLst>
              <a:gd name="adj" fmla="val 50000"/>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a:solidFill>
                  <a:srgbClr val="FFFFFF"/>
                </a:solidFill>
                <a:latin typeface="Calibri"/>
              </a:rPr>
              <a:t>B · solid numerics</a:t>
            </a:r>
          </a:p>
        </p:txBody>
      </p:sp>
      <p:sp>
        <p:nvSpPr>
          <p:cNvPr id="20" name="TextBox 19"/>
          <p:cNvSpPr txBox="1"/>
          <p:nvPr/>
        </p:nvSpPr>
        <p:spPr>
          <a:xfrm>
            <a:off x="7543800" y="5468112"/>
            <a:ext cx="4190695" cy="868680"/>
          </a:xfrm>
          <a:prstGeom prst="rect">
            <a:avLst/>
          </a:prstGeom>
          <a:noFill/>
        </p:spPr>
        <p:txBody>
          <a:bodyPr wrap="square" anchor="t" lIns="45720" rIns="45720" tIns="27432" bIns="27432">
            <a:spAutoFit/>
          </a:bodyPr>
          <a:lstStyle/>
          <a:p>
            <a:pPr algn="l">
              <a:spcAft>
                <a:spcPts val="300"/>
              </a:spcAft>
            </a:pPr>
            <a:r>
              <a:rPr sz="1100" b="1">
                <a:solidFill>
                  <a:srgbClr val="FD8C3B"/>
                </a:solidFill>
                <a:latin typeface="Calibri"/>
              </a:rPr>
              <a:t>•  </a:t>
            </a:r>
            <a:r>
              <a:rPr sz="1100" b="0">
                <a:solidFill>
                  <a:srgbClr val="4D4D4D"/>
                </a:solidFill>
                <a:latin typeface="Calibri"/>
              </a:rPr>
              <a:t>Sign proved for small p. Full K = 200 grid: 0 violations in 25,612 unit differences (321 ties). No analytic proof beyond small 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320040"/>
          </a:xfrm>
          <a:prstGeom prst="rect">
            <a:avLst/>
          </a:prstGeom>
          <a:noFill/>
        </p:spPr>
        <p:txBody>
          <a:bodyPr wrap="square" anchor="t" lIns="45720" rIns="45720" tIns="27432" bIns="27432">
            <a:spAutoFit/>
          </a:bodyPr>
          <a:lstStyle/>
          <a:p>
            <a:pPr algn="l">
              <a:spcAft>
                <a:spcPts val="500"/>
              </a:spcAft>
            </a:pPr>
            <a:r>
              <a:rPr sz="1200" b="1">
                <a:solidFill>
                  <a:srgbClr val="FD8C3B"/>
                </a:solidFill>
                <a:latin typeface="Calibri"/>
              </a:rPr>
              <a:t>FINDING 2 · EQUILIBRIUM STRUCTURE</a:t>
            </a:r>
          </a:p>
        </p:txBody>
      </p:sp>
      <p:sp>
        <p:nvSpPr>
          <p:cNvPr id="3" name="TextBox 2"/>
          <p:cNvSpPr txBox="1"/>
          <p:nvPr/>
        </p:nvSpPr>
        <p:spPr>
          <a:xfrm>
            <a:off x="502920" y="566928"/>
            <a:ext cx="11247120" cy="868680"/>
          </a:xfrm>
          <a:prstGeom prst="rect">
            <a:avLst/>
          </a:prstGeom>
          <a:noFill/>
        </p:spPr>
        <p:txBody>
          <a:bodyPr wrap="square" anchor="t" lIns="45720" rIns="45720" tIns="27432" bIns="27432">
            <a:spAutoFit/>
          </a:bodyPr>
          <a:lstStyle/>
          <a:p>
            <a:pPr algn="l">
              <a:spcAft>
                <a:spcPts val="500"/>
              </a:spcAft>
            </a:pPr>
            <a:r>
              <a:rPr sz="2600" b="1">
                <a:solidFill>
                  <a:srgbClr val="08306B"/>
                </a:solidFill>
                <a:latin typeface="Calibri"/>
              </a:rPr>
              <a:t>Identical players mostly split into a hiding and a carrying role</a:t>
            </a:r>
          </a:p>
        </p:txBody>
      </p:sp>
      <p:cxnSp>
        <p:nvCxnSpPr>
          <p:cNvPr id="4" name="Connector 3"/>
          <p:cNvCxnSpPr/>
          <p:nvPr/>
        </p:nvCxnSpPr>
        <p:spPr>
          <a:xfrm>
            <a:off x="548640" y="1417320"/>
            <a:ext cx="11091672" cy="0"/>
          </a:xfrm>
          <a:prstGeom prst="line">
            <a:avLst/>
          </a:prstGeom>
          <a:ln w="12700">
            <a:solidFill>
              <a:srgbClr val="D0D6D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46520"/>
            <a:ext cx="7315200" cy="274320"/>
          </a:xfrm>
          <a:prstGeom prst="rect">
            <a:avLst/>
          </a:prstGeom>
          <a:noFill/>
        </p:spPr>
        <p:txBody>
          <a:bodyPr wrap="square" anchor="t" lIns="45720" rIns="45720" tIns="27432" bIns="27432">
            <a:spAutoFit/>
          </a:bodyPr>
          <a:lstStyle/>
          <a:p>
            <a:pPr algn="l">
              <a:spcAft>
                <a:spcPts val="500"/>
              </a:spcAft>
            </a:pPr>
            <a:r>
              <a:rPr sz="900" b="0">
                <a:solidFill>
                  <a:srgbClr val="8A8A8A"/>
                </a:solidFill>
                <a:latin typeface="Calibri"/>
              </a:rPr>
              <a:t>The Privacy Externality Game · strategic budgets in sampling-based iDP</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spcAft>
                <a:spcPts val="500"/>
              </a:spcAft>
            </a:pPr>
            <a:r>
              <a:rPr sz="900" b="0">
                <a:solidFill>
                  <a:srgbClr val="8A8A8A"/>
                </a:solidFill>
                <a:latin typeface="Calibri"/>
              </a:rPr>
              <a:t>3</a:t>
            </a:r>
          </a:p>
        </p:txBody>
      </p:sp>
      <p:pic>
        <p:nvPicPr>
          <p:cNvPr id="7" name="Picture 6" descr="fig_frontier_ne.png"/>
          <p:cNvPicPr>
            <a:picLocks noChangeAspect="1"/>
          </p:cNvPicPr>
          <p:nvPr/>
        </p:nvPicPr>
        <p:blipFill>
          <a:blip r:embed="rId2"/>
          <a:stretch>
            <a:fillRect/>
          </a:stretch>
        </p:blipFill>
        <p:spPr>
          <a:xfrm>
            <a:off x="502920" y="2012412"/>
            <a:ext cx="6400800" cy="2430838"/>
          </a:xfrm>
          <a:prstGeom prst="rect">
            <a:avLst/>
          </a:prstGeom>
        </p:spPr>
      </p:pic>
      <p:sp>
        <p:nvSpPr>
          <p:cNvPr id="8" name="Rectangle 7"/>
          <p:cNvSpPr/>
          <p:nvPr/>
        </p:nvSpPr>
        <p:spPr>
          <a:xfrm>
            <a:off x="502920" y="5175504"/>
            <a:ext cx="6400800" cy="1207008"/>
          </a:xfrm>
          <a:prstGeom prst="rect">
            <a:avLst/>
          </a:prstGeom>
          <a:solidFill>
            <a:srgbClr val="FF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5175504"/>
            <a:ext cx="54864" cy="1207008"/>
          </a:xfrm>
          <a:prstGeom prst="rect">
            <a:avLst/>
          </a:prstGeom>
          <a:solidFill>
            <a:srgbClr val="FD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5230368"/>
            <a:ext cx="6126480" cy="256032"/>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IN PLAIN WORDS</a:t>
            </a:r>
          </a:p>
        </p:txBody>
      </p:sp>
      <p:sp>
        <p:nvSpPr>
          <p:cNvPr id="11" name="TextBox 10"/>
          <p:cNvSpPr txBox="1"/>
          <p:nvPr/>
        </p:nvSpPr>
        <p:spPr>
          <a:xfrm>
            <a:off x="667512" y="5477256"/>
            <a:ext cx="6126480" cy="859536"/>
          </a:xfrm>
          <a:prstGeom prst="rect">
            <a:avLst/>
          </a:prstGeom>
          <a:noFill/>
        </p:spPr>
        <p:txBody>
          <a:bodyPr wrap="square" anchor="t" lIns="45720" rIns="45720" tIns="27432" bIns="27432">
            <a:spAutoFit/>
          </a:bodyPr>
          <a:lstStyle/>
          <a:p>
            <a:pPr algn="l">
              <a:spcAft>
                <a:spcPts val="500"/>
              </a:spcAft>
            </a:pPr>
            <a:r>
              <a:rPr sz="1100" b="0">
                <a:solidFill>
                  <a:srgbClr val="4D4D4D"/>
                </a:solidFill>
                <a:latin typeface="Calibri"/>
              </a:rPr>
              <a:t>Two identical groups do not end up behaving alike. One sets a strict budget and is almost never sampled (it hides at the floor); the other fills nearly all batch seats. The hider gets the good model almost for free. As in Hawk–Dove, both prefer the hiding role, but only one can have it.</a:t>
            </a:r>
          </a:p>
        </p:txBody>
      </p:sp>
      <p:sp>
        <p:nvSpPr>
          <p:cNvPr id="12" name="TextBox 11"/>
          <p:cNvSpPr txBox="1"/>
          <p:nvPr/>
        </p:nvSpPr>
        <p:spPr>
          <a:xfrm>
            <a:off x="7178040" y="1572768"/>
            <a:ext cx="455645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WHAT WE LOOKED AT</a:t>
            </a:r>
          </a:p>
        </p:txBody>
      </p:sp>
      <p:sp>
        <p:nvSpPr>
          <p:cNvPr id="13" name="TextBox 12"/>
          <p:cNvSpPr txBox="1"/>
          <p:nvPr/>
        </p:nvSpPr>
        <p:spPr>
          <a:xfrm>
            <a:off x="7178040" y="1847088"/>
            <a:ext cx="4556455" cy="1143000"/>
          </a:xfrm>
          <a:prstGeom prst="rect">
            <a:avLst/>
          </a:prstGeom>
          <a:noFill/>
        </p:spPr>
        <p:txBody>
          <a:bodyPr wrap="square" anchor="t" lIns="45720" rIns="45720" tIns="27432" bIns="27432">
            <a:spAutoFit/>
          </a:bodyPr>
          <a:lstStyle/>
          <a:p>
            <a:pPr algn="l">
              <a:spcAft>
                <a:spcPts val="500"/>
              </a:spcAft>
            </a:pPr>
            <a:r>
              <a:rPr sz="1150" b="1">
                <a:solidFill>
                  <a:srgbClr val="FD8C3B"/>
                </a:solidFill>
                <a:latin typeface="Calibri"/>
              </a:rPr>
              <a:t>•  </a:t>
            </a:r>
            <a:r>
              <a:rPr sz="1150" b="0">
                <a:solidFill>
                  <a:srgbClr val="4D4D4D"/>
                </a:solidFill>
                <a:latin typeface="Calibri"/>
              </a:rPr>
              <a:t>Symmetric 2-player game, λ = 1: all pure NE on the K = 200 deployed grid; exact first-order conditions at the equilibria.</a:t>
            </a:r>
          </a:p>
        </p:txBody>
      </p:sp>
      <p:sp>
        <p:nvSpPr>
          <p:cNvPr id="14" name="TextBox 13"/>
          <p:cNvSpPr txBox="1"/>
          <p:nvPr/>
        </p:nvSpPr>
        <p:spPr>
          <a:xfrm>
            <a:off x="7178040" y="3017520"/>
            <a:ext cx="455645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WHAT WE FOUND</a:t>
            </a:r>
          </a:p>
        </p:txBody>
      </p:sp>
      <p:sp>
        <p:nvSpPr>
          <p:cNvPr id="15" name="TextBox 14"/>
          <p:cNvSpPr txBox="1"/>
          <p:nvPr/>
        </p:nvSpPr>
        <p:spPr>
          <a:xfrm>
            <a:off x="7178040" y="3291839"/>
            <a:ext cx="4556455" cy="1508760"/>
          </a:xfrm>
          <a:prstGeom prst="rect">
            <a:avLst/>
          </a:prstGeom>
          <a:noFill/>
        </p:spPr>
        <p:txBody>
          <a:bodyPr wrap="square" anchor="t" lIns="45720" rIns="45720" tIns="27432" bIns="27432">
            <a:spAutoFit/>
          </a:bodyPr>
          <a:lstStyle/>
          <a:p>
            <a:pPr algn="l">
              <a:spcAft>
                <a:spcPts val="500"/>
              </a:spcAft>
            </a:pPr>
            <a:r>
              <a:rPr sz="1250" b="1">
                <a:solidFill>
                  <a:srgbClr val="FD8C3B"/>
                </a:solidFill>
                <a:latin typeface="Calibri"/>
              </a:rPr>
              <a:t>•  </a:t>
            </a:r>
            <a:r>
              <a:rPr sz="1250" b="0">
                <a:solidFill>
                  <a:srgbClr val="4D4D4D"/>
                </a:solidFill>
                <a:latin typeface="Calibri"/>
              </a:rPr>
              <a:t>42 of 43 grid NE sit </a:t>
            </a:r>
            <a:r>
              <a:rPr sz="1250" b="1">
                <a:solidFill>
                  <a:srgbClr val="08306B"/>
                </a:solidFill>
                <a:latin typeface="Calibri"/>
              </a:rPr>
              <a:t>on the participation frontier</a:t>
            </a:r>
            <a:r>
              <a:rPr sz="1250" b="0">
                <a:solidFill>
                  <a:srgbClr val="4D4D4D"/>
                </a:solidFill>
                <a:latin typeface="Calibri"/>
              </a:rPr>
              <a:t>: tight player at the floor rate, loose player 6.4–6.7× looser.</a:t>
            </a:r>
          </a:p>
          <a:p>
            <a:pPr algn="l">
              <a:spcAft>
                <a:spcPts val="500"/>
              </a:spcAft>
            </a:pPr>
            <a:r>
              <a:rPr sz="1250" b="1">
                <a:solidFill>
                  <a:srgbClr val="FD8C3B"/>
                </a:solidFill>
                <a:latin typeface="Calibri"/>
              </a:rPr>
              <a:t>•  </a:t>
            </a:r>
            <a:r>
              <a:rPr sz="1250" b="0">
                <a:solidFill>
                  <a:srgbClr val="4D4D4D"/>
                </a:solidFill>
                <a:latin typeface="Calibri"/>
              </a:rPr>
              <a:t>Risk </a:t>
            </a:r>
            <a:r>
              <a:rPr sz="1250" b="1">
                <a:solidFill>
                  <a:srgbClr val="08306B"/>
                </a:solidFill>
                <a:latin typeface="Calibri"/>
              </a:rPr>
              <a:t>≈7·10^{−4} vs 0.21–0.32</a:t>
            </a:r>
            <a:r>
              <a:rPr sz="1250" b="0">
                <a:solidFill>
                  <a:srgbClr val="4D4D4D"/>
                </a:solidFill>
                <a:latin typeface="Calibri"/>
              </a:rPr>
              <a:t>; the hiding seat earns more (0.43–0.59 vs 0.23–0.27): Hawk–Dove.</a:t>
            </a:r>
          </a:p>
          <a:p>
            <a:pPr algn="l">
              <a:spcAft>
                <a:spcPts val="500"/>
              </a:spcAft>
            </a:pPr>
            <a:r>
              <a:rPr sz="1250" b="1">
                <a:solidFill>
                  <a:srgbClr val="FD8C3B"/>
                </a:solidFill>
                <a:latin typeface="Calibri"/>
              </a:rPr>
              <a:t>•  </a:t>
            </a:r>
            <a:r>
              <a:rPr sz="1250" b="0">
                <a:solidFill>
                  <a:srgbClr val="4D4D4D"/>
                </a:solidFill>
                <a:latin typeface="Calibri"/>
              </a:rPr>
              <a:t>Corner equilibria (two one-sided conditions): the grid samples </a:t>
            </a:r>
            <a:r>
              <a:rPr sz="1250" b="1">
                <a:solidFill>
                  <a:srgbClr val="08306B"/>
                </a:solidFill>
                <a:latin typeface="Calibri"/>
              </a:rPr>
              <a:t>one continuum</a:t>
            </a:r>
            <a:r>
              <a:rPr sz="1250" b="0">
                <a:solidFill>
                  <a:srgbClr val="4D4D4D"/>
                </a:solidFill>
                <a:latin typeface="Calibri"/>
              </a:rPr>
              <a:t>. The 43rd point is the symmetric equilibrium (next slide).</a:t>
            </a:r>
          </a:p>
        </p:txBody>
      </p:sp>
      <p:sp>
        <p:nvSpPr>
          <p:cNvPr id="16" name="TextBox 15"/>
          <p:cNvSpPr txBox="1"/>
          <p:nvPr/>
        </p:nvSpPr>
        <p:spPr>
          <a:xfrm>
            <a:off x="7178040" y="4846320"/>
            <a:ext cx="455645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HOW MUCH TO TRUST IT</a:t>
            </a:r>
          </a:p>
        </p:txBody>
      </p:sp>
      <p:sp>
        <p:nvSpPr>
          <p:cNvPr id="17" name="Rounded Rectangle 16"/>
          <p:cNvSpPr/>
          <p:nvPr/>
        </p:nvSpPr>
        <p:spPr>
          <a:xfrm>
            <a:off x="7178040" y="5138928"/>
            <a:ext cx="1600200" cy="27432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a:solidFill>
                  <a:srgbClr val="FFFFFF"/>
                </a:solidFill>
                <a:latin typeface="Calibri"/>
              </a:rPr>
              <a:t>A · proved / exact</a:t>
            </a:r>
          </a:p>
        </p:txBody>
      </p:sp>
      <p:sp>
        <p:nvSpPr>
          <p:cNvPr id="18" name="Rounded Rectangle 17"/>
          <p:cNvSpPr/>
          <p:nvPr/>
        </p:nvSpPr>
        <p:spPr>
          <a:xfrm>
            <a:off x="8869680" y="5138928"/>
            <a:ext cx="1600200" cy="274320"/>
          </a:xfrm>
          <a:prstGeom prst="roundRect">
            <a:avLst>
              <a:gd name="adj" fmla="val 50000"/>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a:solidFill>
                  <a:srgbClr val="FFFFFF"/>
                </a:solidFill>
                <a:latin typeface="Calibri"/>
              </a:rPr>
              <a:t>B · solid numerics</a:t>
            </a:r>
          </a:p>
        </p:txBody>
      </p:sp>
      <p:sp>
        <p:nvSpPr>
          <p:cNvPr id="19" name="TextBox 18"/>
          <p:cNvSpPr txBox="1"/>
          <p:nvPr/>
        </p:nvSpPr>
        <p:spPr>
          <a:xfrm>
            <a:off x="7178040" y="5468112"/>
            <a:ext cx="4556455" cy="868680"/>
          </a:xfrm>
          <a:prstGeom prst="rect">
            <a:avLst/>
          </a:prstGeom>
          <a:noFill/>
        </p:spPr>
        <p:txBody>
          <a:bodyPr wrap="square" anchor="t" lIns="45720" rIns="45720" tIns="27432" bIns="27432">
            <a:spAutoFit/>
          </a:bodyPr>
          <a:lstStyle/>
          <a:p>
            <a:pPr algn="l">
              <a:spcAft>
                <a:spcPts val="300"/>
              </a:spcAft>
            </a:pPr>
            <a:r>
              <a:rPr sz="1100" b="1">
                <a:solidFill>
                  <a:srgbClr val="FD8C3B"/>
                </a:solidFill>
                <a:latin typeface="Calibri"/>
              </a:rPr>
              <a:t>•  </a:t>
            </a:r>
            <a:r>
              <a:rPr sz="1100" b="0">
                <a:solidFill>
                  <a:srgbClr val="4D4D4D"/>
                </a:solidFill>
                <a:latin typeface="Calibri"/>
              </a:rPr>
              <a:t>Corner conditions exact (loose player pushes into the wall, +9.7·10</a:t>
            </a:r>
            <a:r>
              <a:rPr sz="1100" b="0" baseline="30000">
                <a:solidFill>
                  <a:srgbClr val="4D4D4D"/>
                </a:solidFill>
                <a:latin typeface="Calibri"/>
              </a:rPr>
              <a:t>−3</a:t>
            </a:r>
            <a:r>
              <a:rPr sz="1100" b="0">
                <a:solidFill>
                  <a:srgbClr val="4D4D4D"/>
                </a:solidFill>
                <a:latin typeface="Calibri"/>
              </a:rPr>
              <a:t>); the asymmetric family survives every grid, V and accountant tested.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320040"/>
          </a:xfrm>
          <a:prstGeom prst="rect">
            <a:avLst/>
          </a:prstGeom>
          <a:noFill/>
        </p:spPr>
        <p:txBody>
          <a:bodyPr wrap="square" anchor="t" lIns="45720" rIns="45720" tIns="27432" bIns="27432">
            <a:spAutoFit/>
          </a:bodyPr>
          <a:lstStyle/>
          <a:p>
            <a:pPr algn="l">
              <a:spcAft>
                <a:spcPts val="500"/>
              </a:spcAft>
            </a:pPr>
            <a:r>
              <a:rPr sz="1200" b="1">
                <a:solidFill>
                  <a:srgbClr val="FD8C3B"/>
                </a:solidFill>
                <a:latin typeface="Calibri"/>
              </a:rPr>
              <a:t>FINDING 3 · SYMMETRIC MODERATION</a:t>
            </a:r>
          </a:p>
        </p:txBody>
      </p:sp>
      <p:sp>
        <p:nvSpPr>
          <p:cNvPr id="3" name="TextBox 2"/>
          <p:cNvSpPr txBox="1"/>
          <p:nvPr/>
        </p:nvSpPr>
        <p:spPr>
          <a:xfrm>
            <a:off x="502920" y="566928"/>
            <a:ext cx="11247120" cy="868680"/>
          </a:xfrm>
          <a:prstGeom prst="rect">
            <a:avLst/>
          </a:prstGeom>
          <a:noFill/>
        </p:spPr>
        <p:txBody>
          <a:bodyPr wrap="square" anchor="t" lIns="45720" rIns="45720" tIns="27432" bIns="27432">
            <a:spAutoFit/>
          </a:bodyPr>
          <a:lstStyle/>
          <a:p>
            <a:pPr algn="l">
              <a:spcAft>
                <a:spcPts val="500"/>
              </a:spcAft>
            </a:pPr>
            <a:r>
              <a:rPr sz="2600" b="1">
                <a:solidFill>
                  <a:srgbClr val="08306B"/>
                </a:solidFill>
                <a:latin typeface="Calibri"/>
              </a:rPr>
              <a:t>There is one symmetric equilibrium, and it needs composition</a:t>
            </a:r>
          </a:p>
        </p:txBody>
      </p:sp>
      <p:cxnSp>
        <p:nvCxnSpPr>
          <p:cNvPr id="4" name="Connector 3"/>
          <p:cNvCxnSpPr/>
          <p:nvPr/>
        </p:nvCxnSpPr>
        <p:spPr>
          <a:xfrm>
            <a:off x="548640" y="1417320"/>
            <a:ext cx="11091672" cy="0"/>
          </a:xfrm>
          <a:prstGeom prst="line">
            <a:avLst/>
          </a:prstGeom>
          <a:ln w="12700">
            <a:solidFill>
              <a:srgbClr val="D0D6D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46520"/>
            <a:ext cx="7315200" cy="274320"/>
          </a:xfrm>
          <a:prstGeom prst="rect">
            <a:avLst/>
          </a:prstGeom>
          <a:noFill/>
        </p:spPr>
        <p:txBody>
          <a:bodyPr wrap="square" anchor="t" lIns="45720" rIns="45720" tIns="27432" bIns="27432">
            <a:spAutoFit/>
          </a:bodyPr>
          <a:lstStyle/>
          <a:p>
            <a:pPr algn="l">
              <a:spcAft>
                <a:spcPts val="500"/>
              </a:spcAft>
            </a:pPr>
            <a:r>
              <a:rPr sz="900" b="0">
                <a:solidFill>
                  <a:srgbClr val="8A8A8A"/>
                </a:solidFill>
                <a:latin typeface="Calibri"/>
              </a:rPr>
              <a:t>The Privacy Externality Game · strategic budgets in sampling-based iDP</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spcAft>
                <a:spcPts val="500"/>
              </a:spcAft>
            </a:pPr>
            <a:r>
              <a:rPr sz="900" b="0">
                <a:solidFill>
                  <a:srgbClr val="8A8A8A"/>
                </a:solidFill>
                <a:latin typeface="Calibri"/>
              </a:rPr>
              <a:t>4</a:t>
            </a:r>
          </a:p>
        </p:txBody>
      </p:sp>
      <p:pic>
        <p:nvPicPr>
          <p:cNvPr id="7" name="Picture 6" descr="fig_t390_local_slice.png"/>
          <p:cNvPicPr>
            <a:picLocks noChangeAspect="1"/>
          </p:cNvPicPr>
          <p:nvPr/>
        </p:nvPicPr>
        <p:blipFill>
          <a:blip r:embed="rId2"/>
          <a:stretch>
            <a:fillRect/>
          </a:stretch>
        </p:blipFill>
        <p:spPr>
          <a:xfrm>
            <a:off x="1352108" y="1572768"/>
            <a:ext cx="4610983" cy="3310128"/>
          </a:xfrm>
          <a:prstGeom prst="rect">
            <a:avLst/>
          </a:prstGeom>
        </p:spPr>
      </p:pic>
      <p:sp>
        <p:nvSpPr>
          <p:cNvPr id="8" name="Rectangle 7"/>
          <p:cNvSpPr/>
          <p:nvPr/>
        </p:nvSpPr>
        <p:spPr>
          <a:xfrm>
            <a:off x="502920" y="5175504"/>
            <a:ext cx="6309360" cy="1207008"/>
          </a:xfrm>
          <a:prstGeom prst="rect">
            <a:avLst/>
          </a:prstGeom>
          <a:solidFill>
            <a:srgbClr val="FF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5175504"/>
            <a:ext cx="54864" cy="1207008"/>
          </a:xfrm>
          <a:prstGeom prst="rect">
            <a:avLst/>
          </a:prstGeom>
          <a:solidFill>
            <a:srgbClr val="FD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5230368"/>
            <a:ext cx="6035040" cy="256032"/>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IN PLAIN WORDS</a:t>
            </a:r>
          </a:p>
        </p:txBody>
      </p:sp>
      <p:sp>
        <p:nvSpPr>
          <p:cNvPr id="11" name="TextBox 10"/>
          <p:cNvSpPr txBox="1"/>
          <p:nvPr/>
        </p:nvSpPr>
        <p:spPr>
          <a:xfrm>
            <a:off x="667512" y="5477256"/>
            <a:ext cx="6035040" cy="859536"/>
          </a:xfrm>
          <a:prstGeom prst="rect">
            <a:avLst/>
          </a:prstGeom>
          <a:noFill/>
        </p:spPr>
        <p:txBody>
          <a:bodyPr wrap="square" anchor="t" lIns="45720" rIns="45720" tIns="27432" bIns="27432">
            <a:spAutoFit/>
          </a:bodyPr>
          <a:lstStyle/>
          <a:p>
            <a:pPr algn="l">
              <a:spcAft>
                <a:spcPts val="500"/>
              </a:spcAft>
            </a:pPr>
            <a:r>
              <a:rPr sz="1100" b="0">
                <a:solidFill>
                  <a:srgbClr val="4D4D4D"/>
                </a:solidFill>
                <a:latin typeface="Calibri"/>
              </a:rPr>
              <a:t>There is one exception: if both pick a moderate budget of about 2.6, neither gains by moving. It exists only because training repeats the noisy step many times; with 1–2 steps it does not. The peak is very flat, so a coarse search can easily miss it or invent it.</a:t>
            </a:r>
          </a:p>
        </p:txBody>
      </p:sp>
      <p:sp>
        <p:nvSpPr>
          <p:cNvPr id="12" name="TextBox 11"/>
          <p:cNvSpPr txBox="1"/>
          <p:nvPr/>
        </p:nvSpPr>
        <p:spPr>
          <a:xfrm>
            <a:off x="7086600" y="1572768"/>
            <a:ext cx="464789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WHAT WE LOOKED AT</a:t>
            </a:r>
          </a:p>
        </p:txBody>
      </p:sp>
      <p:sp>
        <p:nvSpPr>
          <p:cNvPr id="13" name="TextBox 12"/>
          <p:cNvSpPr txBox="1"/>
          <p:nvPr/>
        </p:nvSpPr>
        <p:spPr>
          <a:xfrm>
            <a:off x="7086600" y="1847088"/>
            <a:ext cx="4647895" cy="1143000"/>
          </a:xfrm>
          <a:prstGeom prst="rect">
            <a:avLst/>
          </a:prstGeom>
          <a:noFill/>
        </p:spPr>
        <p:txBody>
          <a:bodyPr wrap="square" anchor="t" lIns="45720" rIns="45720" tIns="27432" bIns="27432">
            <a:spAutoFit/>
          </a:bodyPr>
          <a:lstStyle/>
          <a:p>
            <a:pPr algn="l">
              <a:spcAft>
                <a:spcPts val="500"/>
              </a:spcAft>
            </a:pPr>
            <a:r>
              <a:rPr sz="1150" b="1">
                <a:solidFill>
                  <a:srgbClr val="FD8C3B"/>
                </a:solidFill>
                <a:latin typeface="Calibri"/>
              </a:rPr>
              <a:t>•  </a:t>
            </a:r>
            <a:r>
              <a:rPr sz="1150" b="0">
                <a:solidFill>
                  <a:srgbClr val="4D4D4D"/>
                </a:solidFill>
                <a:latin typeface="Calibri"/>
              </a:rPr>
              <a:t>Exact composition (no accountant), T = 390, λ = 1: player 2's utility on 14 dense budgets around the diagonal for ε</a:t>
            </a:r>
            <a:r>
              <a:rPr sz="1150" b="0" baseline="-25000">
                <a:solidFill>
                  <a:srgbClr val="4D4D4D"/>
                </a:solidFill>
                <a:latin typeface="Calibri"/>
              </a:rPr>
              <a:t>1</a:t>
            </a:r>
            <a:r>
              <a:rPr sz="1150" b="0">
                <a:solidFill>
                  <a:srgbClr val="4D4D4D"/>
                </a:solidFill>
                <a:latin typeface="Calibri"/>
              </a:rPr>
              <a:t> = 2.548 and 2.92 (Slurm 292170).</a:t>
            </a:r>
          </a:p>
        </p:txBody>
      </p:sp>
      <p:sp>
        <p:nvSpPr>
          <p:cNvPr id="14" name="TextBox 13"/>
          <p:cNvSpPr txBox="1"/>
          <p:nvPr/>
        </p:nvSpPr>
        <p:spPr>
          <a:xfrm>
            <a:off x="7086600" y="3017520"/>
            <a:ext cx="464789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WHAT WE FOUND</a:t>
            </a:r>
          </a:p>
        </p:txBody>
      </p:sp>
      <p:sp>
        <p:nvSpPr>
          <p:cNvPr id="15" name="TextBox 14"/>
          <p:cNvSpPr txBox="1"/>
          <p:nvPr/>
        </p:nvSpPr>
        <p:spPr>
          <a:xfrm>
            <a:off x="7086600" y="3291839"/>
            <a:ext cx="4647895" cy="1508760"/>
          </a:xfrm>
          <a:prstGeom prst="rect">
            <a:avLst/>
          </a:prstGeom>
          <a:noFill/>
        </p:spPr>
        <p:txBody>
          <a:bodyPr wrap="square" anchor="t" lIns="45720" rIns="45720" tIns="27432" bIns="27432">
            <a:spAutoFit/>
          </a:bodyPr>
          <a:lstStyle/>
          <a:p>
            <a:pPr algn="l">
              <a:spcAft>
                <a:spcPts val="500"/>
              </a:spcAft>
            </a:pPr>
            <a:r>
              <a:rPr sz="1250" b="1">
                <a:solidFill>
                  <a:srgbClr val="FD8C3B"/>
                </a:solidFill>
                <a:latin typeface="Calibri"/>
              </a:rPr>
              <a:t>•  </a:t>
            </a:r>
            <a:r>
              <a:rPr sz="1250" b="0">
                <a:solidFill>
                  <a:srgbClr val="4D4D4D"/>
                </a:solidFill>
                <a:latin typeface="Calibri"/>
              </a:rPr>
              <a:t>The own slice is a </a:t>
            </a:r>
            <a:r>
              <a:rPr sz="1250" b="1">
                <a:solidFill>
                  <a:srgbClr val="08306B"/>
                </a:solidFill>
                <a:latin typeface="Calibri"/>
              </a:rPr>
              <a:t>peak</a:t>
            </a:r>
            <a:r>
              <a:rPr sz="1250" b="0">
                <a:solidFill>
                  <a:srgbClr val="4D4D4D"/>
                </a:solidFill>
                <a:latin typeface="Calibri"/>
              </a:rPr>
              <a:t>, not a trough: BR(2.548) ≈ 2.62, BR(2.92) ≈ 2.38.</a:t>
            </a:r>
          </a:p>
          <a:p>
            <a:pPr algn="l">
              <a:spcAft>
                <a:spcPts val="500"/>
              </a:spcAft>
            </a:pPr>
            <a:r>
              <a:rPr sz="1250" b="1">
                <a:solidFill>
                  <a:srgbClr val="FD8C3B"/>
                </a:solidFill>
                <a:latin typeface="Calibri"/>
              </a:rPr>
              <a:t>•  </a:t>
            </a:r>
            <a:r>
              <a:rPr sz="1250" b="0">
                <a:solidFill>
                  <a:srgbClr val="4D4D4D"/>
                </a:solidFill>
                <a:latin typeface="Calibri"/>
              </a:rPr>
              <a:t>Symmetric NE at </a:t>
            </a:r>
            <a:r>
              <a:rPr sz="1250" b="1">
                <a:solidFill>
                  <a:srgbClr val="08306B"/>
                </a:solidFill>
                <a:latin typeface="Calibri"/>
              </a:rPr>
              <a:t>ε* ≈ 2.59</a:t>
            </a:r>
            <a:r>
              <a:rPr sz="1250" b="0">
                <a:solidFill>
                  <a:srgbClr val="4D4D4D"/>
                </a:solidFill>
                <a:latin typeface="Calibri"/>
              </a:rPr>
              <a:t> (σ ≈ 1.16 &lt; √3); BR slope ≈ −0.65, so best-response play is locally stable.</a:t>
            </a:r>
          </a:p>
          <a:p>
            <a:pPr algn="l">
              <a:spcAft>
                <a:spcPts val="500"/>
              </a:spcAft>
            </a:pPr>
            <a:r>
              <a:rPr sz="1250" b="1">
                <a:solidFill>
                  <a:srgbClr val="FD8C3B"/>
                </a:solidFill>
                <a:latin typeface="Calibri"/>
              </a:rPr>
              <a:t>•  </a:t>
            </a:r>
            <a:r>
              <a:rPr sz="1250" b="0">
                <a:solidFill>
                  <a:srgbClr val="4D4D4D"/>
                </a:solidFill>
                <a:latin typeface="Calibri"/>
              </a:rPr>
              <a:t>T ≤ 2: no interior symmetric NE at any λ. The deployed RDP grid shows this point at 2.96, as a 10</a:t>
            </a:r>
            <a:r>
              <a:rPr sz="1250" b="0" baseline="30000">
                <a:solidFill>
                  <a:srgbClr val="4D4D4D"/>
                </a:solidFill>
                <a:latin typeface="Calibri"/>
              </a:rPr>
              <a:t>−4</a:t>
            </a:r>
            <a:r>
              <a:rPr sz="1250" b="0">
                <a:solidFill>
                  <a:srgbClr val="4D4D4D"/>
                </a:solidFill>
                <a:latin typeface="Calibri"/>
              </a:rPr>
              <a:t> near-tie.</a:t>
            </a:r>
          </a:p>
        </p:txBody>
      </p:sp>
      <p:sp>
        <p:nvSpPr>
          <p:cNvPr id="16" name="TextBox 15"/>
          <p:cNvSpPr txBox="1"/>
          <p:nvPr/>
        </p:nvSpPr>
        <p:spPr>
          <a:xfrm>
            <a:off x="7086600" y="4846320"/>
            <a:ext cx="464789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HOW MUCH TO TRUST IT</a:t>
            </a:r>
          </a:p>
        </p:txBody>
      </p:sp>
      <p:sp>
        <p:nvSpPr>
          <p:cNvPr id="17" name="Rounded Rectangle 16"/>
          <p:cNvSpPr/>
          <p:nvPr/>
        </p:nvSpPr>
        <p:spPr>
          <a:xfrm>
            <a:off x="7086600" y="5138928"/>
            <a:ext cx="1600200" cy="27432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a:solidFill>
                  <a:srgbClr val="FFFFFF"/>
                </a:solidFill>
                <a:latin typeface="Calibri"/>
              </a:rPr>
              <a:t>A · proved / exact</a:t>
            </a:r>
          </a:p>
        </p:txBody>
      </p:sp>
      <p:sp>
        <p:nvSpPr>
          <p:cNvPr id="18" name="Rounded Rectangle 17"/>
          <p:cNvSpPr/>
          <p:nvPr/>
        </p:nvSpPr>
        <p:spPr>
          <a:xfrm>
            <a:off x="8778240" y="5138928"/>
            <a:ext cx="1600200" cy="274320"/>
          </a:xfrm>
          <a:prstGeom prst="roundRect">
            <a:avLst>
              <a:gd name="adj" fmla="val 50000"/>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a:solidFill>
                  <a:srgbClr val="FFFFFF"/>
                </a:solidFill>
                <a:latin typeface="Calibri"/>
              </a:rPr>
              <a:t>B · solid numerics</a:t>
            </a:r>
          </a:p>
        </p:txBody>
      </p:sp>
      <p:sp>
        <p:nvSpPr>
          <p:cNvPr id="19" name="TextBox 18"/>
          <p:cNvSpPr txBox="1"/>
          <p:nvPr/>
        </p:nvSpPr>
        <p:spPr>
          <a:xfrm>
            <a:off x="7086600" y="5468112"/>
            <a:ext cx="4647895" cy="868680"/>
          </a:xfrm>
          <a:prstGeom prst="rect">
            <a:avLst/>
          </a:prstGeom>
          <a:noFill/>
        </p:spPr>
        <p:txBody>
          <a:bodyPr wrap="square" anchor="t" lIns="45720" rIns="45720" tIns="27432" bIns="27432">
            <a:spAutoFit/>
          </a:bodyPr>
          <a:lstStyle/>
          <a:p>
            <a:pPr algn="l">
              <a:spcAft>
                <a:spcPts val="300"/>
              </a:spcAft>
            </a:pPr>
            <a:r>
              <a:rPr sz="1100" b="1">
                <a:solidFill>
                  <a:srgbClr val="FD8C3B"/>
                </a:solidFill>
                <a:latin typeface="Calibri"/>
              </a:rPr>
              <a:t>•  </a:t>
            </a:r>
            <a:r>
              <a:rPr sz="1100" b="0">
                <a:solidFill>
                  <a:srgbClr val="4D4D4D"/>
                </a:solidFill>
                <a:latin typeface="Calibri"/>
              </a:rPr>
              <a:t>Exact profiles, dense near the diagonal. ε* is bracketed (2.55, 2.92) by two columns; stability from a two-point slope. The earlier 21-point columns had no deviation within ±40% of the diagonal.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320040"/>
          </a:xfrm>
          <a:prstGeom prst="rect">
            <a:avLst/>
          </a:prstGeom>
          <a:noFill/>
        </p:spPr>
        <p:txBody>
          <a:bodyPr wrap="square" anchor="t" lIns="45720" rIns="45720" tIns="27432" bIns="27432">
            <a:spAutoFit/>
          </a:bodyPr>
          <a:lstStyle/>
          <a:p>
            <a:pPr algn="l">
              <a:spcAft>
                <a:spcPts val="500"/>
              </a:spcAft>
            </a:pPr>
            <a:r>
              <a:rPr sz="1200" b="1">
                <a:solidFill>
                  <a:srgbClr val="FD8C3B"/>
                </a:solidFill>
                <a:latin typeface="Calibri"/>
              </a:rPr>
              <a:t>FINDING 4 · UTILITY MODEL</a:t>
            </a:r>
          </a:p>
        </p:txBody>
      </p:sp>
      <p:sp>
        <p:nvSpPr>
          <p:cNvPr id="3" name="TextBox 2"/>
          <p:cNvSpPr txBox="1"/>
          <p:nvPr/>
        </p:nvSpPr>
        <p:spPr>
          <a:xfrm>
            <a:off x="502920" y="566928"/>
            <a:ext cx="11247120" cy="868680"/>
          </a:xfrm>
          <a:prstGeom prst="rect">
            <a:avLst/>
          </a:prstGeom>
          <a:noFill/>
        </p:spPr>
        <p:txBody>
          <a:bodyPr wrap="square" anchor="t" lIns="45720" rIns="45720" tIns="27432" bIns="27432">
            <a:spAutoFit/>
          </a:bodyPr>
          <a:lstStyle/>
          <a:p>
            <a:pPr algn="l">
              <a:spcAft>
                <a:spcPts val="500"/>
              </a:spcAft>
            </a:pPr>
            <a:r>
              <a:rPr sz="2600" b="1">
                <a:solidFill>
                  <a:srgbClr val="08306B"/>
                </a:solidFill>
                <a:latin typeface="Calibri"/>
              </a:rPr>
              <a:t>Utility shape moves the symmetric point, never the asymmetric family</a:t>
            </a:r>
          </a:p>
        </p:txBody>
      </p:sp>
      <p:cxnSp>
        <p:nvCxnSpPr>
          <p:cNvPr id="4" name="Connector 3"/>
          <p:cNvCxnSpPr/>
          <p:nvPr/>
        </p:nvCxnSpPr>
        <p:spPr>
          <a:xfrm>
            <a:off x="548640" y="1417320"/>
            <a:ext cx="11091672" cy="0"/>
          </a:xfrm>
          <a:prstGeom prst="line">
            <a:avLst/>
          </a:prstGeom>
          <a:ln w="12700">
            <a:solidFill>
              <a:srgbClr val="D0D6D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46520"/>
            <a:ext cx="7315200" cy="274320"/>
          </a:xfrm>
          <a:prstGeom prst="rect">
            <a:avLst/>
          </a:prstGeom>
          <a:noFill/>
        </p:spPr>
        <p:txBody>
          <a:bodyPr wrap="square" anchor="t" lIns="45720" rIns="45720" tIns="27432" bIns="27432">
            <a:spAutoFit/>
          </a:bodyPr>
          <a:lstStyle/>
          <a:p>
            <a:pPr algn="l">
              <a:spcAft>
                <a:spcPts val="500"/>
              </a:spcAft>
            </a:pPr>
            <a:r>
              <a:rPr sz="900" b="0">
                <a:solidFill>
                  <a:srgbClr val="8A8A8A"/>
                </a:solidFill>
                <a:latin typeface="Calibri"/>
              </a:rPr>
              <a:t>The Privacy Externality Game · strategic budgets in sampling-based iDP</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spcAft>
                <a:spcPts val="500"/>
              </a:spcAft>
            </a:pPr>
            <a:r>
              <a:rPr sz="900" b="0">
                <a:solidFill>
                  <a:srgbClr val="8A8A8A"/>
                </a:solidFill>
                <a:latin typeface="Calibri"/>
              </a:rPr>
              <a:t>5</a:t>
            </a:r>
          </a:p>
        </p:txBody>
      </p:sp>
      <p:pic>
        <p:nvPicPr>
          <p:cNvPr id="7" name="Picture 6" descr="fig_v_shape_postfix.png"/>
          <p:cNvPicPr>
            <a:picLocks noChangeAspect="1"/>
          </p:cNvPicPr>
          <p:nvPr/>
        </p:nvPicPr>
        <p:blipFill>
          <a:blip r:embed="rId2"/>
          <a:stretch>
            <a:fillRect/>
          </a:stretch>
        </p:blipFill>
        <p:spPr>
          <a:xfrm>
            <a:off x="1247606" y="1572768"/>
            <a:ext cx="5277187" cy="3310128"/>
          </a:xfrm>
          <a:prstGeom prst="rect">
            <a:avLst/>
          </a:prstGeom>
        </p:spPr>
      </p:pic>
      <p:sp>
        <p:nvSpPr>
          <p:cNvPr id="8" name="TextBox 7"/>
          <p:cNvSpPr txBox="1"/>
          <p:nvPr/>
        </p:nvSpPr>
        <p:spPr>
          <a:xfrm>
            <a:off x="502920" y="4882896"/>
            <a:ext cx="6766560" cy="457200"/>
          </a:xfrm>
          <a:prstGeom prst="rect">
            <a:avLst/>
          </a:prstGeom>
          <a:noFill/>
        </p:spPr>
        <p:txBody>
          <a:bodyPr wrap="square" anchor="t" lIns="45720" rIns="45720" tIns="27432" bIns="27432">
            <a:spAutoFit/>
          </a:bodyPr>
          <a:lstStyle/>
          <a:p>
            <a:pPr algn="l">
              <a:spcAft>
                <a:spcPts val="500"/>
              </a:spcAft>
            </a:pPr>
            <a:r>
              <a:rPr sz="1000" b="0">
                <a:solidFill>
                  <a:srgbClr val="6A6A6A"/>
                </a:solidFill>
                <a:latin typeface="Calibri"/>
              </a:rPr>
              <a:t>Paper Fig. 14, recomputed on the post-fix grid. Hollow: symmetric grid points.</a:t>
            </a:r>
          </a:p>
        </p:txBody>
      </p:sp>
      <p:sp>
        <p:nvSpPr>
          <p:cNvPr id="9" name="Rectangle 8"/>
          <p:cNvSpPr/>
          <p:nvPr/>
        </p:nvSpPr>
        <p:spPr>
          <a:xfrm>
            <a:off x="502920" y="5175504"/>
            <a:ext cx="6766560" cy="1207008"/>
          </a:xfrm>
          <a:prstGeom prst="rect">
            <a:avLst/>
          </a:prstGeom>
          <a:solidFill>
            <a:srgbClr val="FF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175504"/>
            <a:ext cx="54864" cy="1207008"/>
          </a:xfrm>
          <a:prstGeom prst="rect">
            <a:avLst/>
          </a:prstGeom>
          <a:solidFill>
            <a:srgbClr val="FD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5230368"/>
            <a:ext cx="6492240" cy="256032"/>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IN PLAIN WORDS</a:t>
            </a:r>
          </a:p>
        </p:txBody>
      </p:sp>
      <p:sp>
        <p:nvSpPr>
          <p:cNvPr id="12" name="TextBox 11"/>
          <p:cNvSpPr txBox="1"/>
          <p:nvPr/>
        </p:nvSpPr>
        <p:spPr>
          <a:xfrm>
            <a:off x="667512" y="5477256"/>
            <a:ext cx="6492240" cy="859536"/>
          </a:xfrm>
          <a:prstGeom prst="rect">
            <a:avLst/>
          </a:prstGeom>
          <a:noFill/>
        </p:spPr>
        <p:txBody>
          <a:bodyPr wrap="square" anchor="t" lIns="45720" rIns="45720" tIns="27432" bIns="27432">
            <a:spAutoFit/>
          </a:bodyPr>
          <a:lstStyle/>
          <a:p>
            <a:pPr algn="l">
              <a:spcAft>
                <a:spcPts val="500"/>
              </a:spcAft>
            </a:pPr>
            <a:r>
              <a:rPr sz="1100" b="0">
                <a:solidFill>
                  <a:srgbClr val="4D4D4D"/>
                </a:solidFill>
                <a:latin typeface="Calibri"/>
              </a:rPr>
              <a:t>We don't know exactly how model quality depends on noise, so we tried six plausible curves. The 'one hides, one carries' outcomes barely move: they come from how seats are allocated, not from the curve. Only the moderate equal-budget point depends on it, and a straight-line curve removes it.</a:t>
            </a:r>
          </a:p>
        </p:txBody>
      </p:sp>
      <p:sp>
        <p:nvSpPr>
          <p:cNvPr id="13" name="TextBox 12"/>
          <p:cNvSpPr txBox="1"/>
          <p:nvPr/>
        </p:nvSpPr>
        <p:spPr>
          <a:xfrm>
            <a:off x="7543800" y="1572768"/>
            <a:ext cx="419069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WHAT WE LOOKED AT</a:t>
            </a:r>
          </a:p>
        </p:txBody>
      </p:sp>
      <p:sp>
        <p:nvSpPr>
          <p:cNvPr id="14" name="TextBox 13"/>
          <p:cNvSpPr txBox="1"/>
          <p:nvPr/>
        </p:nvSpPr>
        <p:spPr>
          <a:xfrm>
            <a:off x="7543800" y="1847088"/>
            <a:ext cx="4190695" cy="1143000"/>
          </a:xfrm>
          <a:prstGeom prst="rect">
            <a:avLst/>
          </a:prstGeom>
          <a:noFill/>
        </p:spPr>
        <p:txBody>
          <a:bodyPr wrap="square" anchor="t" lIns="45720" rIns="45720" tIns="27432" bIns="27432">
            <a:spAutoFit/>
          </a:bodyPr>
          <a:lstStyle/>
          <a:p>
            <a:pPr algn="l">
              <a:spcAft>
                <a:spcPts val="500"/>
              </a:spcAft>
            </a:pPr>
            <a:r>
              <a:rPr sz="1150" b="1">
                <a:solidFill>
                  <a:srgbClr val="FD8C3B"/>
                </a:solidFill>
                <a:latin typeface="Calibri"/>
              </a:rPr>
              <a:t>•  </a:t>
            </a:r>
            <a:r>
              <a:rPr sz="1150" b="0">
                <a:solidFill>
                  <a:srgbClr val="4D4D4D"/>
                </a:solidFill>
                <a:latin typeface="Calibri"/>
              </a:rPr>
              <a:t>Six admissible V(σ): 1/(1+σ</a:t>
            </a:r>
            <a:r>
              <a:rPr sz="1150" b="0" baseline="30000">
                <a:solidFill>
                  <a:srgbClr val="4D4D4D"/>
                </a:solidFill>
                <a:latin typeface="Calibri"/>
              </a:rPr>
              <a:t>2</a:t>
            </a:r>
            <a:r>
              <a:rPr sz="1150" b="0">
                <a:solidFill>
                  <a:srgbClr val="4D4D4D"/>
                </a:solidFill>
                <a:latin typeface="Calibri"/>
              </a:rPr>
              <a:t>), 1/(1+σ), e</a:t>
            </a:r>
            <a:r>
              <a:rPr sz="1150" b="0" baseline="30000">
                <a:solidFill>
                  <a:srgbClr val="4D4D4D"/>
                </a:solidFill>
                <a:latin typeface="Calibri"/>
              </a:rPr>
              <a:t>−σ²/2</a:t>
            </a:r>
            <a:r>
              <a:rPr sz="1150" b="0">
                <a:solidFill>
                  <a:srgbClr val="4D4D4D"/>
                </a:solidFill>
                <a:latin typeface="Calibri"/>
              </a:rPr>
              <a:t>, e</a:t>
            </a:r>
            <a:r>
              <a:rPr sz="1150" b="0" baseline="30000">
                <a:solidFill>
                  <a:srgbClr val="4D4D4D"/>
                </a:solidFill>
                <a:latin typeface="Calibri"/>
              </a:rPr>
              <a:t>−σ</a:t>
            </a:r>
            <a:r>
              <a:rPr sz="1150" b="0">
                <a:solidFill>
                  <a:srgbClr val="4D4D4D"/>
                </a:solidFill>
                <a:latin typeface="Calibri"/>
              </a:rPr>
              <a:t>, −log(1+σ), −σ; pure NE re-enumerated on the same K = 200 mechanism grid (V-free).</a:t>
            </a:r>
          </a:p>
        </p:txBody>
      </p:sp>
      <p:sp>
        <p:nvSpPr>
          <p:cNvPr id="15" name="TextBox 14"/>
          <p:cNvSpPr txBox="1"/>
          <p:nvPr/>
        </p:nvSpPr>
        <p:spPr>
          <a:xfrm>
            <a:off x="7543800" y="3017520"/>
            <a:ext cx="419069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WHAT WE FOUND</a:t>
            </a:r>
          </a:p>
        </p:txBody>
      </p:sp>
      <p:sp>
        <p:nvSpPr>
          <p:cNvPr id="16" name="TextBox 15"/>
          <p:cNvSpPr txBox="1"/>
          <p:nvPr/>
        </p:nvSpPr>
        <p:spPr>
          <a:xfrm>
            <a:off x="7543800" y="3291839"/>
            <a:ext cx="4190695" cy="1508760"/>
          </a:xfrm>
          <a:prstGeom prst="rect">
            <a:avLst/>
          </a:prstGeom>
          <a:noFill/>
        </p:spPr>
        <p:txBody>
          <a:bodyPr wrap="square" anchor="t" lIns="45720" rIns="45720" tIns="27432" bIns="27432">
            <a:spAutoFit/>
          </a:bodyPr>
          <a:lstStyle/>
          <a:p>
            <a:pPr algn="l">
              <a:spcAft>
                <a:spcPts val="500"/>
              </a:spcAft>
            </a:pPr>
            <a:r>
              <a:rPr sz="1250" b="1">
                <a:solidFill>
                  <a:srgbClr val="FD8C3B"/>
                </a:solidFill>
                <a:latin typeface="Calibri"/>
              </a:rPr>
              <a:t>•  </a:t>
            </a:r>
            <a:r>
              <a:rPr sz="1250" b="0">
                <a:solidFill>
                  <a:srgbClr val="4D4D4D"/>
                </a:solidFill>
                <a:latin typeface="Calibri"/>
              </a:rPr>
              <a:t>All asymmetric NE lie on the </a:t>
            </a:r>
            <a:r>
              <a:rPr sz="1250" b="1">
                <a:solidFill>
                  <a:srgbClr val="08306B"/>
                </a:solidFill>
                <a:latin typeface="Calibri"/>
              </a:rPr>
              <a:t>same participation frontier</a:t>
            </a:r>
            <a:r>
              <a:rPr sz="1250" b="0">
                <a:solidFill>
                  <a:srgbClr val="4D4D4D"/>
                </a:solidFill>
                <a:latin typeface="Calibri"/>
              </a:rPr>
              <a:t>; V only slides their extent (27–45 NE).</a:t>
            </a:r>
          </a:p>
          <a:p>
            <a:pPr algn="l">
              <a:spcAft>
                <a:spcPts val="500"/>
              </a:spcAft>
            </a:pPr>
            <a:r>
              <a:rPr sz="1250" b="1">
                <a:solidFill>
                  <a:srgbClr val="FD8C3B"/>
                </a:solidFill>
                <a:latin typeface="Calibri"/>
              </a:rPr>
              <a:t>•  </a:t>
            </a:r>
            <a:r>
              <a:rPr sz="1250" b="0">
                <a:solidFill>
                  <a:srgbClr val="4D4D4D"/>
                </a:solidFill>
                <a:latin typeface="Calibri"/>
              </a:rPr>
              <a:t>Five of six V show one symmetric point, at a V-dependent budget (1.4–4.2); linear V = −σ shows none.</a:t>
            </a:r>
          </a:p>
          <a:p>
            <a:pPr algn="l">
              <a:spcAft>
                <a:spcPts val="500"/>
              </a:spcAft>
            </a:pPr>
            <a:r>
              <a:rPr sz="1250" b="1">
                <a:solidFill>
                  <a:srgbClr val="FD8C3B"/>
                </a:solidFill>
                <a:latin typeface="Calibri"/>
              </a:rPr>
              <a:t>•  </a:t>
            </a:r>
            <a:r>
              <a:rPr sz="1250" b="0">
                <a:solidFill>
                  <a:srgbClr val="4D4D4D"/>
                </a:solidFill>
                <a:latin typeface="Calibri"/>
              </a:rPr>
              <a:t>So the symmetric point is a property of V's shape; the asymmetric family is a property of the mechanism.</a:t>
            </a:r>
          </a:p>
        </p:txBody>
      </p:sp>
      <p:sp>
        <p:nvSpPr>
          <p:cNvPr id="17" name="TextBox 16"/>
          <p:cNvSpPr txBox="1"/>
          <p:nvPr/>
        </p:nvSpPr>
        <p:spPr>
          <a:xfrm>
            <a:off x="7543800" y="4846320"/>
            <a:ext cx="419069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HOW MUCH TO TRUST IT</a:t>
            </a:r>
          </a:p>
        </p:txBody>
      </p:sp>
      <p:sp>
        <p:nvSpPr>
          <p:cNvPr id="18" name="Rounded Rectangle 17"/>
          <p:cNvSpPr/>
          <p:nvPr/>
        </p:nvSpPr>
        <p:spPr>
          <a:xfrm>
            <a:off x="7543800" y="5138928"/>
            <a:ext cx="1600200" cy="274320"/>
          </a:xfrm>
          <a:prstGeom prst="roundRect">
            <a:avLst>
              <a:gd name="adj" fmla="val 50000"/>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a:solidFill>
                  <a:srgbClr val="FFFFFF"/>
                </a:solidFill>
                <a:latin typeface="Calibri"/>
              </a:rPr>
              <a:t>B · solid numerics</a:t>
            </a:r>
          </a:p>
        </p:txBody>
      </p:sp>
      <p:sp>
        <p:nvSpPr>
          <p:cNvPr id="19" name="Rounded Rectangle 18"/>
          <p:cNvSpPr/>
          <p:nvPr/>
        </p:nvSpPr>
        <p:spPr>
          <a:xfrm>
            <a:off x="9235440" y="5138928"/>
            <a:ext cx="1600200" cy="274320"/>
          </a:xfrm>
          <a:prstGeom prst="roundRect">
            <a:avLst>
              <a:gd name="adj" fmla="val 50000"/>
            </a:avLst>
          </a:prstGeom>
          <a:solidFill>
            <a:srgbClr val="E68A0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a:solidFill>
                  <a:srgbClr val="FFFFFF"/>
                </a:solidFill>
                <a:latin typeface="Calibri"/>
              </a:rPr>
              <a:t>C · provisional</a:t>
            </a:r>
          </a:p>
        </p:txBody>
      </p:sp>
      <p:sp>
        <p:nvSpPr>
          <p:cNvPr id="20" name="TextBox 19"/>
          <p:cNvSpPr txBox="1"/>
          <p:nvPr/>
        </p:nvSpPr>
        <p:spPr>
          <a:xfrm>
            <a:off x="7543800" y="5468112"/>
            <a:ext cx="4190695" cy="868680"/>
          </a:xfrm>
          <a:prstGeom prst="rect">
            <a:avLst/>
          </a:prstGeom>
          <a:noFill/>
        </p:spPr>
        <p:txBody>
          <a:bodyPr wrap="square" anchor="t" lIns="45720" rIns="45720" tIns="27432" bIns="27432">
            <a:spAutoFit/>
          </a:bodyPr>
          <a:lstStyle/>
          <a:p>
            <a:pPr algn="l">
              <a:spcAft>
                <a:spcPts val="300"/>
              </a:spcAft>
            </a:pPr>
            <a:r>
              <a:rPr sz="1100" b="1">
                <a:solidFill>
                  <a:srgbClr val="FD8C3B"/>
                </a:solidFill>
                <a:latin typeface="Calibri"/>
              </a:rPr>
              <a:t>•  </a:t>
            </a:r>
            <a:r>
              <a:rPr sz="1100" b="0">
                <a:solidFill>
                  <a:srgbClr val="4D4D4D"/>
                </a:solidFill>
                <a:latin typeface="Calibri"/>
              </a:rPr>
              <a:t>Frontier family: solid. Symmetric points: deployed-grid near-ties (margins ≲ 10</a:t>
            </a:r>
            <a:r>
              <a:rPr sz="1100" b="0" baseline="30000">
                <a:solidFill>
                  <a:srgbClr val="4D4D4D"/>
                </a:solidFill>
                <a:latin typeface="Calibri"/>
              </a:rPr>
              <a:t>−4</a:t>
            </a:r>
            <a:r>
              <a:rPr sz="1100" b="0">
                <a:solidFill>
                  <a:srgbClr val="4D4D4D"/>
                </a:solidFill>
                <a:latin typeface="Calibri"/>
              </a:rPr>
              <a:t>), exact check done only for V</a:t>
            </a:r>
            <a:r>
              <a:rPr sz="1100" b="0" baseline="-25000">
                <a:solidFill>
                  <a:srgbClr val="4D4D4D"/>
                </a:solidFill>
                <a:latin typeface="Calibri"/>
              </a:rPr>
              <a:t>1</a:t>
            </a:r>
            <a:r>
              <a:rPr sz="1100" b="0">
                <a:solidFill>
                  <a:srgbClr val="4D4D4D"/>
                </a:solidFill>
                <a:latin typeface="Calibri"/>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320040"/>
          </a:xfrm>
          <a:prstGeom prst="rect">
            <a:avLst/>
          </a:prstGeom>
          <a:noFill/>
        </p:spPr>
        <p:txBody>
          <a:bodyPr wrap="square" anchor="t" lIns="45720" rIns="45720" tIns="27432" bIns="27432">
            <a:spAutoFit/>
          </a:bodyPr>
          <a:lstStyle/>
          <a:p>
            <a:pPr algn="l">
              <a:spcAft>
                <a:spcPts val="500"/>
              </a:spcAft>
            </a:pPr>
            <a:r>
              <a:rPr sz="1200" b="1">
                <a:solidFill>
                  <a:srgbClr val="FD8C3B"/>
                </a:solidFill>
                <a:latin typeface="Calibri"/>
              </a:rPr>
              <a:t>FINDING 5 · WHY</a:t>
            </a:r>
          </a:p>
        </p:txBody>
      </p:sp>
      <p:sp>
        <p:nvSpPr>
          <p:cNvPr id="3" name="TextBox 2"/>
          <p:cNvSpPr txBox="1"/>
          <p:nvPr/>
        </p:nvSpPr>
        <p:spPr>
          <a:xfrm>
            <a:off x="502920" y="566928"/>
            <a:ext cx="11247120" cy="868680"/>
          </a:xfrm>
          <a:prstGeom prst="rect">
            <a:avLst/>
          </a:prstGeom>
          <a:noFill/>
        </p:spPr>
        <p:txBody>
          <a:bodyPr wrap="square" anchor="t" lIns="45720" rIns="45720" tIns="27432" bIns="27432">
            <a:spAutoFit/>
          </a:bodyPr>
          <a:lstStyle/>
          <a:p>
            <a:pPr algn="l">
              <a:spcAft>
                <a:spcPts val="500"/>
              </a:spcAft>
            </a:pPr>
            <a:r>
              <a:rPr sz="2600" b="1">
                <a:solidFill>
                  <a:srgbClr val="08306B"/>
                </a:solidFill>
                <a:latin typeface="Calibri"/>
              </a:rPr>
              <a:t>A budget buys participation before it buys model quality</a:t>
            </a:r>
          </a:p>
        </p:txBody>
      </p:sp>
      <p:cxnSp>
        <p:nvCxnSpPr>
          <p:cNvPr id="4" name="Connector 3"/>
          <p:cNvCxnSpPr/>
          <p:nvPr/>
        </p:nvCxnSpPr>
        <p:spPr>
          <a:xfrm>
            <a:off x="548640" y="1417320"/>
            <a:ext cx="11091672" cy="0"/>
          </a:xfrm>
          <a:prstGeom prst="line">
            <a:avLst/>
          </a:prstGeom>
          <a:ln w="12700">
            <a:solidFill>
              <a:srgbClr val="D0D6D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46520"/>
            <a:ext cx="7315200" cy="274320"/>
          </a:xfrm>
          <a:prstGeom prst="rect">
            <a:avLst/>
          </a:prstGeom>
          <a:noFill/>
        </p:spPr>
        <p:txBody>
          <a:bodyPr wrap="square" anchor="t" lIns="45720" rIns="45720" tIns="27432" bIns="27432">
            <a:spAutoFit/>
          </a:bodyPr>
          <a:lstStyle/>
          <a:p>
            <a:pPr algn="l">
              <a:spcAft>
                <a:spcPts val="500"/>
              </a:spcAft>
            </a:pPr>
            <a:r>
              <a:rPr sz="900" b="0">
                <a:solidFill>
                  <a:srgbClr val="8A8A8A"/>
                </a:solidFill>
                <a:latin typeface="Calibri"/>
              </a:rPr>
              <a:t>The Privacy Externality Game · strategic budgets in sampling-based iDP</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spcAft>
                <a:spcPts val="500"/>
              </a:spcAft>
            </a:pPr>
            <a:r>
              <a:rPr sz="900" b="0">
                <a:solidFill>
                  <a:srgbClr val="8A8A8A"/>
                </a:solidFill>
                <a:latin typeface="Calibri"/>
              </a:rPr>
              <a:t>6</a:t>
            </a:r>
          </a:p>
        </p:txBody>
      </p:sp>
      <p:pic>
        <p:nvPicPr>
          <p:cNvPr id="7" name="Picture 6" descr="t1_slice_decomposition.png"/>
          <p:cNvPicPr>
            <a:picLocks noChangeAspect="1"/>
          </p:cNvPicPr>
          <p:nvPr/>
        </p:nvPicPr>
        <p:blipFill>
          <a:blip r:embed="rId2"/>
          <a:stretch>
            <a:fillRect/>
          </a:stretch>
        </p:blipFill>
        <p:spPr>
          <a:xfrm>
            <a:off x="1070839" y="1572768"/>
            <a:ext cx="5630720" cy="3310128"/>
          </a:xfrm>
          <a:prstGeom prst="rect">
            <a:avLst/>
          </a:prstGeom>
        </p:spPr>
      </p:pic>
      <p:sp>
        <p:nvSpPr>
          <p:cNvPr id="8" name="TextBox 7"/>
          <p:cNvSpPr txBox="1"/>
          <p:nvPr/>
        </p:nvSpPr>
        <p:spPr>
          <a:xfrm>
            <a:off x="502920" y="4882896"/>
            <a:ext cx="6766560" cy="457200"/>
          </a:xfrm>
          <a:prstGeom prst="rect">
            <a:avLst/>
          </a:prstGeom>
          <a:noFill/>
        </p:spPr>
        <p:txBody>
          <a:bodyPr wrap="square" anchor="t" lIns="45720" rIns="45720" tIns="27432" bIns="27432">
            <a:spAutoFit/>
          </a:bodyPr>
          <a:lstStyle/>
          <a:p>
            <a:pPr algn="l">
              <a:spcAft>
                <a:spcPts val="500"/>
              </a:spcAft>
            </a:pPr>
            <a:r>
              <a:rPr sz="1000" b="0">
                <a:solidFill>
                  <a:srgbClr val="6A6A6A"/>
                </a:solidFill>
                <a:latin typeface="Calibri"/>
              </a:rPr>
              <a:t>T = 1, λ = 0.7, |G| = 5000, B = 128; opponent fixed at ε</a:t>
            </a:r>
            <a:r>
              <a:rPr sz="1000" b="0" baseline="-25000">
                <a:solidFill>
                  <a:srgbClr val="6A6A6A"/>
                </a:solidFill>
                <a:latin typeface="Calibri"/>
              </a:rPr>
              <a:t>1</a:t>
            </a:r>
            <a:r>
              <a:rPr sz="1000" b="0">
                <a:solidFill>
                  <a:srgbClr val="6A6A6A"/>
                </a:solidFill>
                <a:latin typeface="Calibri"/>
              </a:rPr>
              <a:t> = 29.85.</a:t>
            </a:r>
          </a:p>
        </p:txBody>
      </p:sp>
      <p:sp>
        <p:nvSpPr>
          <p:cNvPr id="9" name="Rectangle 8"/>
          <p:cNvSpPr/>
          <p:nvPr/>
        </p:nvSpPr>
        <p:spPr>
          <a:xfrm>
            <a:off x="502920" y="5175504"/>
            <a:ext cx="6766560" cy="1207008"/>
          </a:xfrm>
          <a:prstGeom prst="rect">
            <a:avLst/>
          </a:prstGeom>
          <a:solidFill>
            <a:srgbClr val="FF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175504"/>
            <a:ext cx="54864" cy="1207008"/>
          </a:xfrm>
          <a:prstGeom prst="rect">
            <a:avLst/>
          </a:prstGeom>
          <a:solidFill>
            <a:srgbClr val="FD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5230368"/>
            <a:ext cx="6492240" cy="256032"/>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IN PLAIN WORDS</a:t>
            </a:r>
          </a:p>
        </p:txBody>
      </p:sp>
      <p:sp>
        <p:nvSpPr>
          <p:cNvPr id="12" name="TextBox 11"/>
          <p:cNvSpPr txBox="1"/>
          <p:nvPr/>
        </p:nvSpPr>
        <p:spPr>
          <a:xfrm>
            <a:off x="667512" y="5477256"/>
            <a:ext cx="6492240" cy="859536"/>
          </a:xfrm>
          <a:prstGeom prst="rect">
            <a:avLst/>
          </a:prstGeom>
          <a:noFill/>
        </p:spPr>
        <p:txBody>
          <a:bodyPr wrap="square" anchor="t" lIns="45720" rIns="45720" tIns="27432" bIns="27432">
            <a:spAutoFit/>
          </a:bodyPr>
          <a:lstStyle/>
          <a:p>
            <a:pPr algn="l">
              <a:spcAft>
                <a:spcPts val="500"/>
              </a:spcAft>
            </a:pPr>
            <a:r>
              <a:rPr sz="1100" b="0">
                <a:solidFill>
                  <a:srgbClr val="4D4D4D"/>
                </a:solidFill>
                <a:latin typeface="Calibri"/>
              </a:rPr>
              <a:t>Raising your budget first mainly gets you sampled more, so your exposure jumps while the other group still controls the noise and the model hardly improves. Only once you hold most of the batch does extra budget make the model cleaner. The middle is the worst spot: stay strict or go all in.</a:t>
            </a:r>
          </a:p>
        </p:txBody>
      </p:sp>
      <p:sp>
        <p:nvSpPr>
          <p:cNvPr id="13" name="TextBox 12"/>
          <p:cNvSpPr txBox="1"/>
          <p:nvPr/>
        </p:nvSpPr>
        <p:spPr>
          <a:xfrm>
            <a:off x="7543800" y="1572768"/>
            <a:ext cx="419069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WHAT WE LOOKED AT</a:t>
            </a:r>
          </a:p>
        </p:txBody>
      </p:sp>
      <p:sp>
        <p:nvSpPr>
          <p:cNvPr id="14" name="TextBox 13"/>
          <p:cNvSpPr txBox="1"/>
          <p:nvPr/>
        </p:nvSpPr>
        <p:spPr>
          <a:xfrm>
            <a:off x="7543800" y="1847088"/>
            <a:ext cx="4190695" cy="1143000"/>
          </a:xfrm>
          <a:prstGeom prst="rect">
            <a:avLst/>
          </a:prstGeom>
          <a:noFill/>
        </p:spPr>
        <p:txBody>
          <a:bodyPr wrap="square" anchor="t" lIns="45720" rIns="45720" tIns="27432" bIns="27432">
            <a:spAutoFit/>
          </a:bodyPr>
          <a:lstStyle/>
          <a:p>
            <a:pPr algn="l">
              <a:spcAft>
                <a:spcPts val="500"/>
              </a:spcAft>
            </a:pPr>
            <a:r>
              <a:rPr sz="1150" b="1">
                <a:solidFill>
                  <a:srgbClr val="FD8C3B"/>
                </a:solidFill>
                <a:latin typeface="Calibri"/>
              </a:rPr>
              <a:t>•  </a:t>
            </a:r>
            <a:r>
              <a:rPr sz="1150" b="0">
                <a:solidFill>
                  <a:srgbClr val="4D4D4D"/>
                </a:solidFill>
                <a:latin typeface="Calibri"/>
              </a:rPr>
              <a:t>Exact T = 1 game (closed form): own-budget slice split into value gain and privacy cost; λ swept over 10</a:t>
            </a:r>
            <a:r>
              <a:rPr sz="1150" b="0" baseline="30000">
                <a:solidFill>
                  <a:srgbClr val="4D4D4D"/>
                </a:solidFill>
                <a:latin typeface="Calibri"/>
              </a:rPr>
              <a:t>−3</a:t>
            </a:r>
            <a:r>
              <a:rPr sz="1150" b="0">
                <a:solidFill>
                  <a:srgbClr val="4D4D4D"/>
                </a:solidFill>
                <a:latin typeface="Calibri"/>
              </a:rPr>
              <a:t>–80; group size 500–50,000.</a:t>
            </a:r>
          </a:p>
        </p:txBody>
      </p:sp>
      <p:sp>
        <p:nvSpPr>
          <p:cNvPr id="15" name="TextBox 14"/>
          <p:cNvSpPr txBox="1"/>
          <p:nvPr/>
        </p:nvSpPr>
        <p:spPr>
          <a:xfrm>
            <a:off x="7543800" y="3017520"/>
            <a:ext cx="419069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WHAT WE FOUND</a:t>
            </a:r>
          </a:p>
        </p:txBody>
      </p:sp>
      <p:sp>
        <p:nvSpPr>
          <p:cNvPr id="16" name="TextBox 15"/>
          <p:cNvSpPr txBox="1"/>
          <p:nvPr/>
        </p:nvSpPr>
        <p:spPr>
          <a:xfrm>
            <a:off x="7543800" y="3291839"/>
            <a:ext cx="4190695" cy="1508760"/>
          </a:xfrm>
          <a:prstGeom prst="rect">
            <a:avLst/>
          </a:prstGeom>
          <a:noFill/>
        </p:spPr>
        <p:txBody>
          <a:bodyPr wrap="square" anchor="t" lIns="45720" rIns="45720" tIns="27432" bIns="27432">
            <a:spAutoFit/>
          </a:bodyPr>
          <a:lstStyle/>
          <a:p>
            <a:pPr algn="l">
              <a:spcAft>
                <a:spcPts val="500"/>
              </a:spcAft>
            </a:pPr>
            <a:r>
              <a:rPr sz="1250" b="1">
                <a:solidFill>
                  <a:srgbClr val="FD8C3B"/>
                </a:solidFill>
                <a:latin typeface="Calibri"/>
              </a:rPr>
              <a:t>•  </a:t>
            </a:r>
            <a:r>
              <a:rPr sz="1250" b="1">
                <a:solidFill>
                  <a:srgbClr val="08306B"/>
                </a:solidFill>
                <a:latin typeface="Calibri"/>
              </a:rPr>
              <a:t>Rate phase:</a:t>
            </a:r>
            <a:r>
              <a:rPr sz="1250" b="0">
                <a:solidFill>
                  <a:srgbClr val="4D4D4D"/>
                </a:solidFill>
                <a:latin typeface="Calibri"/>
              </a:rPr>
              <a:t> exposure takes off ~e</a:t>
            </a:r>
            <a:r>
              <a:rPr sz="1250" b="0" baseline="30000">
                <a:solidFill>
                  <a:srgbClr val="4D4D4D"/>
                </a:solidFill>
                <a:latin typeface="Calibri"/>
              </a:rPr>
              <a:t>ε</a:t>
            </a:r>
            <a:r>
              <a:rPr sz="1250" b="0">
                <a:solidFill>
                  <a:srgbClr val="4D4D4D"/>
                </a:solidFill>
                <a:latin typeface="Calibri"/>
              </a:rPr>
              <a:t> while σ is still pinned by the opponent → a trough. Moderate participation is the worst reply.</a:t>
            </a:r>
          </a:p>
          <a:p>
            <a:pPr algn="l">
              <a:spcAft>
                <a:spcPts val="500"/>
              </a:spcAft>
            </a:pPr>
            <a:r>
              <a:rPr sz="1250" b="1">
                <a:solidFill>
                  <a:srgbClr val="FD8C3B"/>
                </a:solidFill>
                <a:latin typeface="Calibri"/>
              </a:rPr>
              <a:t>•  </a:t>
            </a:r>
            <a:r>
              <a:rPr sz="1250" b="1">
                <a:solidFill>
                  <a:srgbClr val="08306B"/>
                </a:solidFill>
                <a:latin typeface="Calibri"/>
              </a:rPr>
              <a:t>Noise phase:</a:t>
            </a:r>
            <a:r>
              <a:rPr sz="1250" b="0">
                <a:solidFill>
                  <a:srgbClr val="4D4D4D"/>
                </a:solidFill>
                <a:latin typeface="Calibri"/>
              </a:rPr>
              <a:t> rate capped; extra budget lowers σ.</a:t>
            </a:r>
          </a:p>
          <a:p>
            <a:pPr algn="l">
              <a:spcAft>
                <a:spcPts val="500"/>
              </a:spcAft>
            </a:pPr>
            <a:r>
              <a:rPr sz="1250" b="1">
                <a:solidFill>
                  <a:srgbClr val="FD8C3B"/>
                </a:solidFill>
                <a:latin typeface="Calibri"/>
              </a:rPr>
              <a:t>•  </a:t>
            </a:r>
            <a:r>
              <a:rPr sz="1250" b="0">
                <a:solidFill>
                  <a:srgbClr val="4D4D4D"/>
                </a:solidFill>
                <a:latin typeface="Calibri"/>
              </a:rPr>
              <a:t>Best replies: floor, frontier, or noise phase, hence the corner equilibria.</a:t>
            </a:r>
          </a:p>
        </p:txBody>
      </p:sp>
      <p:sp>
        <p:nvSpPr>
          <p:cNvPr id="17" name="TextBox 16"/>
          <p:cNvSpPr txBox="1"/>
          <p:nvPr/>
        </p:nvSpPr>
        <p:spPr>
          <a:xfrm>
            <a:off x="7543800" y="4846320"/>
            <a:ext cx="419069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HOW MUCH TO TRUST IT</a:t>
            </a:r>
          </a:p>
        </p:txBody>
      </p:sp>
      <p:sp>
        <p:nvSpPr>
          <p:cNvPr id="18" name="Rounded Rectangle 17"/>
          <p:cNvSpPr/>
          <p:nvPr/>
        </p:nvSpPr>
        <p:spPr>
          <a:xfrm>
            <a:off x="7543800" y="5138928"/>
            <a:ext cx="1600200" cy="27432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a:solidFill>
                  <a:srgbClr val="FFFFFF"/>
                </a:solidFill>
                <a:latin typeface="Calibri"/>
              </a:rPr>
              <a:t>A · proved / exact</a:t>
            </a:r>
          </a:p>
        </p:txBody>
      </p:sp>
      <p:sp>
        <p:nvSpPr>
          <p:cNvPr id="19" name="Rounded Rectangle 18"/>
          <p:cNvSpPr/>
          <p:nvPr/>
        </p:nvSpPr>
        <p:spPr>
          <a:xfrm>
            <a:off x="9235440" y="5138928"/>
            <a:ext cx="1600200" cy="274320"/>
          </a:xfrm>
          <a:prstGeom prst="roundRect">
            <a:avLst>
              <a:gd name="adj" fmla="val 50000"/>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a:solidFill>
                  <a:srgbClr val="FFFFFF"/>
                </a:solidFill>
                <a:latin typeface="Calibri"/>
              </a:rPr>
              <a:t>B · solid numerics</a:t>
            </a:r>
          </a:p>
        </p:txBody>
      </p:sp>
      <p:sp>
        <p:nvSpPr>
          <p:cNvPr id="20" name="TextBox 19"/>
          <p:cNvSpPr txBox="1"/>
          <p:nvPr/>
        </p:nvSpPr>
        <p:spPr>
          <a:xfrm>
            <a:off x="7543800" y="5468112"/>
            <a:ext cx="4190695" cy="868680"/>
          </a:xfrm>
          <a:prstGeom prst="rect">
            <a:avLst/>
          </a:prstGeom>
          <a:noFill/>
        </p:spPr>
        <p:txBody>
          <a:bodyPr wrap="square" anchor="t" lIns="45720" rIns="45720" tIns="27432" bIns="27432">
            <a:spAutoFit/>
          </a:bodyPr>
          <a:lstStyle/>
          <a:p>
            <a:pPr algn="l">
              <a:spcAft>
                <a:spcPts val="300"/>
              </a:spcAft>
            </a:pPr>
            <a:r>
              <a:rPr sz="1100" b="1">
                <a:solidFill>
                  <a:srgbClr val="FD8C3B"/>
                </a:solidFill>
                <a:latin typeface="Calibri"/>
              </a:rPr>
              <a:t>•  </a:t>
            </a:r>
            <a:r>
              <a:rPr sz="1100" b="0">
                <a:solidFill>
                  <a:srgbClr val="4D4D4D"/>
                </a:solidFill>
                <a:latin typeface="Calibri"/>
              </a:rPr>
              <a:t>Machine precision at T = 1, certified at T = 2. Across 191 robustness worlds corner play holds in 107/110 linear-cost ones; convex cost breaks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320040"/>
          </a:xfrm>
          <a:prstGeom prst="rect">
            <a:avLst/>
          </a:prstGeom>
          <a:noFill/>
        </p:spPr>
        <p:txBody>
          <a:bodyPr wrap="square" anchor="t" lIns="45720" rIns="45720" tIns="27432" bIns="27432">
            <a:spAutoFit/>
          </a:bodyPr>
          <a:lstStyle/>
          <a:p>
            <a:pPr algn="l">
              <a:spcAft>
                <a:spcPts val="500"/>
              </a:spcAft>
            </a:pPr>
            <a:r>
              <a:rPr sz="1200" b="1">
                <a:solidFill>
                  <a:srgbClr val="FD8C3B"/>
                </a:solidFill>
                <a:latin typeface="Calibri"/>
              </a:rPr>
              <a:t>FINDING 6 · SHARED PRIVACY PREFERENCE</a:t>
            </a:r>
          </a:p>
        </p:txBody>
      </p:sp>
      <p:sp>
        <p:nvSpPr>
          <p:cNvPr id="3" name="TextBox 2"/>
          <p:cNvSpPr txBox="1"/>
          <p:nvPr/>
        </p:nvSpPr>
        <p:spPr>
          <a:xfrm>
            <a:off x="502920" y="566928"/>
            <a:ext cx="11247120" cy="868680"/>
          </a:xfrm>
          <a:prstGeom prst="rect">
            <a:avLst/>
          </a:prstGeom>
          <a:noFill/>
        </p:spPr>
        <p:txBody>
          <a:bodyPr wrap="square" anchor="t" lIns="45720" rIns="45720" tIns="27432" bIns="27432">
            <a:spAutoFit/>
          </a:bodyPr>
          <a:lstStyle/>
          <a:p>
            <a:pPr algn="l">
              <a:spcAft>
                <a:spcPts val="500"/>
              </a:spcAft>
            </a:pPr>
            <a:r>
              <a:rPr sz="2600" b="1">
                <a:solidFill>
                  <a:srgbClr val="08306B"/>
                </a:solidFill>
                <a:latin typeface="Calibri"/>
              </a:rPr>
              <a:t>Caring more about privacy shifts the asymmetric family down</a:t>
            </a:r>
          </a:p>
        </p:txBody>
      </p:sp>
      <p:cxnSp>
        <p:nvCxnSpPr>
          <p:cNvPr id="4" name="Connector 3"/>
          <p:cNvCxnSpPr/>
          <p:nvPr/>
        </p:nvCxnSpPr>
        <p:spPr>
          <a:xfrm>
            <a:off x="548640" y="1417320"/>
            <a:ext cx="11091672" cy="0"/>
          </a:xfrm>
          <a:prstGeom prst="line">
            <a:avLst/>
          </a:prstGeom>
          <a:ln w="12700">
            <a:solidFill>
              <a:srgbClr val="D0D6D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46520"/>
            <a:ext cx="7315200" cy="274320"/>
          </a:xfrm>
          <a:prstGeom prst="rect">
            <a:avLst/>
          </a:prstGeom>
          <a:noFill/>
        </p:spPr>
        <p:txBody>
          <a:bodyPr wrap="square" anchor="t" lIns="45720" rIns="45720" tIns="27432" bIns="27432">
            <a:spAutoFit/>
          </a:bodyPr>
          <a:lstStyle/>
          <a:p>
            <a:pPr algn="l">
              <a:spcAft>
                <a:spcPts val="500"/>
              </a:spcAft>
            </a:pPr>
            <a:r>
              <a:rPr sz="900" b="0">
                <a:solidFill>
                  <a:srgbClr val="8A8A8A"/>
                </a:solidFill>
                <a:latin typeface="Calibri"/>
              </a:rPr>
              <a:t>The Privacy Externality Game · strategic budgets in sampling-based iDP</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spcAft>
                <a:spcPts val="500"/>
              </a:spcAft>
            </a:pPr>
            <a:r>
              <a:rPr sz="900" b="0">
                <a:solidFill>
                  <a:srgbClr val="8A8A8A"/>
                </a:solidFill>
                <a:latin typeface="Calibri"/>
              </a:rPr>
              <a:t>7</a:t>
            </a:r>
          </a:p>
        </p:txBody>
      </p:sp>
      <p:pic>
        <p:nvPicPr>
          <p:cNvPr id="7" name="Picture 6" descr="fig_C7_lambda_ratio.png"/>
          <p:cNvPicPr>
            <a:picLocks noChangeAspect="1"/>
          </p:cNvPicPr>
          <p:nvPr/>
        </p:nvPicPr>
        <p:blipFill>
          <a:blip r:embed="rId2"/>
          <a:stretch>
            <a:fillRect/>
          </a:stretch>
        </p:blipFill>
        <p:spPr>
          <a:xfrm>
            <a:off x="1023784" y="1572767"/>
            <a:ext cx="4627550" cy="3310128"/>
          </a:xfrm>
          <a:prstGeom prst="rect">
            <a:avLst/>
          </a:prstGeom>
        </p:spPr>
      </p:pic>
      <p:sp>
        <p:nvSpPr>
          <p:cNvPr id="8" name="TextBox 7"/>
          <p:cNvSpPr txBox="1"/>
          <p:nvPr/>
        </p:nvSpPr>
        <p:spPr>
          <a:xfrm>
            <a:off x="502920" y="4882896"/>
            <a:ext cx="5669280" cy="457200"/>
          </a:xfrm>
          <a:prstGeom prst="rect">
            <a:avLst/>
          </a:prstGeom>
          <a:noFill/>
        </p:spPr>
        <p:txBody>
          <a:bodyPr wrap="square" anchor="t" lIns="45720" rIns="45720" tIns="27432" bIns="27432">
            <a:spAutoFit/>
          </a:bodyPr>
          <a:lstStyle/>
          <a:p>
            <a:pPr algn="l">
              <a:spcAft>
                <a:spcPts val="500"/>
              </a:spcAft>
            </a:pPr>
            <a:r>
              <a:rPr sz="1000" b="0">
                <a:solidFill>
                  <a:srgbClr val="6A6A6A"/>
                </a:solidFill>
                <a:latin typeface="Calibri"/>
              </a:rPr>
              <a:t>Paper Fig. 16. Crosses: centroids; ellipses: 68% dispersion.</a:t>
            </a:r>
          </a:p>
        </p:txBody>
      </p:sp>
      <p:sp>
        <p:nvSpPr>
          <p:cNvPr id="9" name="Rectangle 8"/>
          <p:cNvSpPr/>
          <p:nvPr/>
        </p:nvSpPr>
        <p:spPr>
          <a:xfrm>
            <a:off x="502920" y="5175504"/>
            <a:ext cx="5669280" cy="1207008"/>
          </a:xfrm>
          <a:prstGeom prst="rect">
            <a:avLst/>
          </a:prstGeom>
          <a:solidFill>
            <a:srgbClr val="FF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175504"/>
            <a:ext cx="54864" cy="1207008"/>
          </a:xfrm>
          <a:prstGeom prst="rect">
            <a:avLst/>
          </a:prstGeom>
          <a:solidFill>
            <a:srgbClr val="FD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5230368"/>
            <a:ext cx="5394960" cy="256032"/>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IN PLAIN WORDS</a:t>
            </a:r>
          </a:p>
        </p:txBody>
      </p:sp>
      <p:sp>
        <p:nvSpPr>
          <p:cNvPr id="12" name="TextBox 11"/>
          <p:cNvSpPr txBox="1"/>
          <p:nvPr/>
        </p:nvSpPr>
        <p:spPr>
          <a:xfrm>
            <a:off x="667512" y="5477256"/>
            <a:ext cx="5394960" cy="859536"/>
          </a:xfrm>
          <a:prstGeom prst="rect">
            <a:avLst/>
          </a:prstGeom>
          <a:noFill/>
        </p:spPr>
        <p:txBody>
          <a:bodyPr wrap="square" anchor="t" lIns="45720" rIns="45720" tIns="27432" bIns="27432">
            <a:spAutoFit/>
          </a:bodyPr>
          <a:lstStyle/>
          <a:p>
            <a:pPr algn="l">
              <a:spcAft>
                <a:spcPts val="500"/>
              </a:spcAft>
            </a:pPr>
            <a:r>
              <a:rPr sz="1100" b="0">
                <a:solidFill>
                  <a:srgbClr val="4D4D4D"/>
                </a:solidFill>
                <a:latin typeface="Calibri"/>
              </a:rPr>
              <a:t>If both groups care more about privacy, both choose stricter budgets, but the split into one hider and one carrier remains. Turning up how much everyone values privacy does not make the groups behave the same way.</a:t>
            </a:r>
          </a:p>
        </p:txBody>
      </p:sp>
      <p:sp>
        <p:nvSpPr>
          <p:cNvPr id="13" name="TextBox 12"/>
          <p:cNvSpPr txBox="1"/>
          <p:nvPr/>
        </p:nvSpPr>
        <p:spPr>
          <a:xfrm>
            <a:off x="6446520" y="1572768"/>
            <a:ext cx="528797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WHAT WE LOOKED AT</a:t>
            </a:r>
          </a:p>
        </p:txBody>
      </p:sp>
      <p:sp>
        <p:nvSpPr>
          <p:cNvPr id="14" name="TextBox 13"/>
          <p:cNvSpPr txBox="1"/>
          <p:nvPr/>
        </p:nvSpPr>
        <p:spPr>
          <a:xfrm>
            <a:off x="6446520" y="1847088"/>
            <a:ext cx="5287975" cy="1143000"/>
          </a:xfrm>
          <a:prstGeom prst="rect">
            <a:avLst/>
          </a:prstGeom>
          <a:noFill/>
        </p:spPr>
        <p:txBody>
          <a:bodyPr wrap="square" anchor="t" lIns="45720" rIns="45720" tIns="27432" bIns="27432">
            <a:spAutoFit/>
          </a:bodyPr>
          <a:lstStyle/>
          <a:p>
            <a:pPr algn="l">
              <a:spcAft>
                <a:spcPts val="500"/>
              </a:spcAft>
            </a:pPr>
            <a:r>
              <a:rPr sz="1150" b="1">
                <a:solidFill>
                  <a:srgbClr val="FD8C3B"/>
                </a:solidFill>
                <a:latin typeface="Calibri"/>
              </a:rPr>
              <a:t>•  </a:t>
            </a:r>
            <a:r>
              <a:rPr sz="1150" b="0">
                <a:solidFill>
                  <a:srgbClr val="4D4D4D"/>
                </a:solidFill>
                <a:latin typeface="Calibri"/>
              </a:rPr>
              <a:t>Common weight λ ∈ {0.125, …, 4} for both players; all pure NE on the K = 200 deployed grid.</a:t>
            </a:r>
          </a:p>
        </p:txBody>
      </p:sp>
      <p:sp>
        <p:nvSpPr>
          <p:cNvPr id="15" name="TextBox 14"/>
          <p:cNvSpPr txBox="1"/>
          <p:nvPr/>
        </p:nvSpPr>
        <p:spPr>
          <a:xfrm>
            <a:off x="6446520" y="3017520"/>
            <a:ext cx="528797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WHAT WE FOUND</a:t>
            </a:r>
          </a:p>
        </p:txBody>
      </p:sp>
      <p:sp>
        <p:nvSpPr>
          <p:cNvPr id="16" name="TextBox 15"/>
          <p:cNvSpPr txBox="1"/>
          <p:nvPr/>
        </p:nvSpPr>
        <p:spPr>
          <a:xfrm>
            <a:off x="6446520" y="3291839"/>
            <a:ext cx="5287975" cy="1508760"/>
          </a:xfrm>
          <a:prstGeom prst="rect">
            <a:avLst/>
          </a:prstGeom>
          <a:noFill/>
        </p:spPr>
        <p:txBody>
          <a:bodyPr wrap="square" anchor="t" lIns="45720" rIns="45720" tIns="27432" bIns="27432">
            <a:spAutoFit/>
          </a:bodyPr>
          <a:lstStyle/>
          <a:p>
            <a:pPr algn="l">
              <a:spcAft>
                <a:spcPts val="500"/>
              </a:spcAft>
            </a:pPr>
            <a:r>
              <a:rPr sz="1250" b="1">
                <a:solidFill>
                  <a:srgbClr val="FD8C3B"/>
                </a:solidFill>
                <a:latin typeface="Calibri"/>
              </a:rPr>
              <a:t>•  </a:t>
            </a:r>
            <a:r>
              <a:rPr sz="1250" b="0">
                <a:solidFill>
                  <a:srgbClr val="4D4D4D"/>
                </a:solidFill>
                <a:latin typeface="Calibri"/>
              </a:rPr>
              <a:t>λ ≤ 0.5: 34–62 NE, all asymmetric; λ = 1 adds the symmetric point.</a:t>
            </a:r>
          </a:p>
          <a:p>
            <a:pPr algn="l">
              <a:spcAft>
                <a:spcPts val="500"/>
              </a:spcAft>
            </a:pPr>
            <a:r>
              <a:rPr sz="1250" b="1">
                <a:solidFill>
                  <a:srgbClr val="FD8C3B"/>
                </a:solidFill>
                <a:latin typeface="Calibri"/>
              </a:rPr>
              <a:t>•  </a:t>
            </a:r>
            <a:r>
              <a:rPr sz="1250" b="0">
                <a:solidFill>
                  <a:srgbClr val="4D4D4D"/>
                </a:solidFill>
                <a:latin typeface="Calibri"/>
              </a:rPr>
              <a:t>Higher λ pulls the whole family to lower budgets.</a:t>
            </a:r>
          </a:p>
          <a:p>
            <a:pPr algn="l">
              <a:spcAft>
                <a:spcPts val="500"/>
              </a:spcAft>
            </a:pPr>
            <a:r>
              <a:rPr sz="1250" b="1">
                <a:solidFill>
                  <a:srgbClr val="FD8C3B"/>
                </a:solidFill>
                <a:latin typeface="Calibri"/>
              </a:rPr>
              <a:t>•  </a:t>
            </a:r>
            <a:r>
              <a:rPr sz="1250" b="0">
                <a:solidFill>
                  <a:srgbClr val="4D4D4D"/>
                </a:solidFill>
                <a:latin typeface="Calibri"/>
              </a:rPr>
              <a:t>λ = 2: no pure NE on this grid; λ = 4: single corner (0.5, 0.5).</a:t>
            </a:r>
          </a:p>
        </p:txBody>
      </p:sp>
      <p:sp>
        <p:nvSpPr>
          <p:cNvPr id="17" name="TextBox 16"/>
          <p:cNvSpPr txBox="1"/>
          <p:nvPr/>
        </p:nvSpPr>
        <p:spPr>
          <a:xfrm>
            <a:off x="6446520" y="4846320"/>
            <a:ext cx="528797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HOW MUCH TO TRUST IT</a:t>
            </a:r>
          </a:p>
        </p:txBody>
      </p:sp>
      <p:sp>
        <p:nvSpPr>
          <p:cNvPr id="18" name="Rounded Rectangle 17"/>
          <p:cNvSpPr/>
          <p:nvPr/>
        </p:nvSpPr>
        <p:spPr>
          <a:xfrm>
            <a:off x="6446520" y="5138928"/>
            <a:ext cx="1600200" cy="274320"/>
          </a:xfrm>
          <a:prstGeom prst="roundRect">
            <a:avLst>
              <a:gd name="adj" fmla="val 50000"/>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a:solidFill>
                  <a:srgbClr val="FFFFFF"/>
                </a:solidFill>
                <a:latin typeface="Calibri"/>
              </a:rPr>
              <a:t>B · solid numerics</a:t>
            </a:r>
          </a:p>
        </p:txBody>
      </p:sp>
      <p:sp>
        <p:nvSpPr>
          <p:cNvPr id="19" name="Rounded Rectangle 18"/>
          <p:cNvSpPr/>
          <p:nvPr/>
        </p:nvSpPr>
        <p:spPr>
          <a:xfrm>
            <a:off x="8138160" y="5138928"/>
            <a:ext cx="1600200" cy="274320"/>
          </a:xfrm>
          <a:prstGeom prst="roundRect">
            <a:avLst>
              <a:gd name="adj" fmla="val 50000"/>
            </a:avLst>
          </a:prstGeom>
          <a:solidFill>
            <a:srgbClr val="E68A0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a:solidFill>
                  <a:srgbClr val="FFFFFF"/>
                </a:solidFill>
                <a:latin typeface="Calibri"/>
              </a:rPr>
              <a:t>C · provisional</a:t>
            </a:r>
          </a:p>
        </p:txBody>
      </p:sp>
      <p:sp>
        <p:nvSpPr>
          <p:cNvPr id="20" name="TextBox 19"/>
          <p:cNvSpPr txBox="1"/>
          <p:nvPr/>
        </p:nvSpPr>
        <p:spPr>
          <a:xfrm>
            <a:off x="6446520" y="5468112"/>
            <a:ext cx="5287975" cy="868680"/>
          </a:xfrm>
          <a:prstGeom prst="rect">
            <a:avLst/>
          </a:prstGeom>
          <a:noFill/>
        </p:spPr>
        <p:txBody>
          <a:bodyPr wrap="square" anchor="t" lIns="45720" rIns="45720" tIns="27432" bIns="27432">
            <a:spAutoFit/>
          </a:bodyPr>
          <a:lstStyle/>
          <a:p>
            <a:pPr algn="l">
              <a:spcAft>
                <a:spcPts val="300"/>
              </a:spcAft>
            </a:pPr>
            <a:r>
              <a:rPr sz="1100" b="1">
                <a:solidFill>
                  <a:srgbClr val="FD8C3B"/>
                </a:solidFill>
                <a:latin typeface="Calibri"/>
              </a:rPr>
              <a:t>•  </a:t>
            </a:r>
            <a:r>
              <a:rPr sz="1100" b="0">
                <a:solidFill>
                  <a:srgbClr val="4D4D4D"/>
                </a:solidFill>
                <a:latin typeface="Calibri"/>
              </a:rPr>
              <a:t>Asymmetric family: solid. The λ = 2 gap is accountant-conditional: with 761 Rényi orders the cycle collapses onto pure 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320040"/>
          </a:xfrm>
          <a:prstGeom prst="rect">
            <a:avLst/>
          </a:prstGeom>
          <a:noFill/>
        </p:spPr>
        <p:txBody>
          <a:bodyPr wrap="square" anchor="t" lIns="45720" rIns="45720" tIns="27432" bIns="27432">
            <a:spAutoFit/>
          </a:bodyPr>
          <a:lstStyle/>
          <a:p>
            <a:pPr algn="l">
              <a:spcAft>
                <a:spcPts val="500"/>
              </a:spcAft>
            </a:pPr>
            <a:r>
              <a:rPr sz="1200" b="1">
                <a:solidFill>
                  <a:srgbClr val="FD8C3B"/>
                </a:solidFill>
                <a:latin typeface="Calibri"/>
              </a:rPr>
              <a:t>FINDING 7 · HETEROGENEITY</a:t>
            </a:r>
          </a:p>
        </p:txBody>
      </p:sp>
      <p:sp>
        <p:nvSpPr>
          <p:cNvPr id="3" name="TextBox 2"/>
          <p:cNvSpPr txBox="1"/>
          <p:nvPr/>
        </p:nvSpPr>
        <p:spPr>
          <a:xfrm>
            <a:off x="502920" y="566928"/>
            <a:ext cx="11247120" cy="868680"/>
          </a:xfrm>
          <a:prstGeom prst="rect">
            <a:avLst/>
          </a:prstGeom>
          <a:noFill/>
        </p:spPr>
        <p:txBody>
          <a:bodyPr wrap="square" anchor="t" lIns="45720" rIns="45720" tIns="27432" bIns="27432">
            <a:spAutoFit/>
          </a:bodyPr>
          <a:lstStyle/>
          <a:p>
            <a:pPr algn="l">
              <a:spcAft>
                <a:spcPts val="500"/>
              </a:spcAft>
            </a:pPr>
            <a:r>
              <a:rPr sz="2600" b="1">
                <a:solidFill>
                  <a:srgbClr val="08306B"/>
                </a:solidFill>
                <a:latin typeface="Calibri"/>
              </a:rPr>
              <a:t>Preferences decide who is exposed: whoever values privacy least</a:t>
            </a:r>
          </a:p>
        </p:txBody>
      </p:sp>
      <p:cxnSp>
        <p:nvCxnSpPr>
          <p:cNvPr id="4" name="Connector 3"/>
          <p:cNvCxnSpPr/>
          <p:nvPr/>
        </p:nvCxnSpPr>
        <p:spPr>
          <a:xfrm>
            <a:off x="548640" y="1417320"/>
            <a:ext cx="11091672" cy="0"/>
          </a:xfrm>
          <a:prstGeom prst="line">
            <a:avLst/>
          </a:prstGeom>
          <a:ln w="12700">
            <a:solidFill>
              <a:srgbClr val="D0D6D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46520"/>
            <a:ext cx="7315200" cy="274320"/>
          </a:xfrm>
          <a:prstGeom prst="rect">
            <a:avLst/>
          </a:prstGeom>
          <a:noFill/>
        </p:spPr>
        <p:txBody>
          <a:bodyPr wrap="square" anchor="t" lIns="45720" rIns="45720" tIns="27432" bIns="27432">
            <a:spAutoFit/>
          </a:bodyPr>
          <a:lstStyle/>
          <a:p>
            <a:pPr algn="l">
              <a:spcAft>
                <a:spcPts val="500"/>
              </a:spcAft>
            </a:pPr>
            <a:r>
              <a:rPr sz="900" b="0">
                <a:solidFill>
                  <a:srgbClr val="8A8A8A"/>
                </a:solidFill>
                <a:latin typeface="Calibri"/>
              </a:rPr>
              <a:t>The Privacy Externality Game · strategic budgets in sampling-based iDP</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spcAft>
                <a:spcPts val="500"/>
              </a:spcAft>
            </a:pPr>
            <a:r>
              <a:rPr sz="900" b="0">
                <a:solidFill>
                  <a:srgbClr val="8A8A8A"/>
                </a:solidFill>
                <a:latin typeface="Calibri"/>
              </a:rPr>
              <a:t>8</a:t>
            </a:r>
          </a:p>
        </p:txBody>
      </p:sp>
      <p:pic>
        <p:nvPicPr>
          <p:cNvPr id="7" name="Picture 6" descr="fig_C8_asymmetric_lambda.png"/>
          <p:cNvPicPr>
            <a:picLocks noChangeAspect="1"/>
          </p:cNvPicPr>
          <p:nvPr/>
        </p:nvPicPr>
        <p:blipFill>
          <a:blip r:embed="rId2"/>
          <a:stretch>
            <a:fillRect/>
          </a:stretch>
        </p:blipFill>
        <p:spPr>
          <a:xfrm>
            <a:off x="1344022" y="1572768"/>
            <a:ext cx="3987074" cy="3310128"/>
          </a:xfrm>
          <a:prstGeom prst="rect">
            <a:avLst/>
          </a:prstGeom>
        </p:spPr>
      </p:pic>
      <p:sp>
        <p:nvSpPr>
          <p:cNvPr id="8" name="Rectangle 7"/>
          <p:cNvSpPr/>
          <p:nvPr/>
        </p:nvSpPr>
        <p:spPr>
          <a:xfrm>
            <a:off x="502920" y="5175504"/>
            <a:ext cx="5669280" cy="1207008"/>
          </a:xfrm>
          <a:prstGeom prst="rect">
            <a:avLst/>
          </a:prstGeom>
          <a:solidFill>
            <a:srgbClr val="FF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5175504"/>
            <a:ext cx="54864" cy="1207008"/>
          </a:xfrm>
          <a:prstGeom prst="rect">
            <a:avLst/>
          </a:prstGeom>
          <a:solidFill>
            <a:srgbClr val="FD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5230368"/>
            <a:ext cx="5394960" cy="256032"/>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IN PLAIN WORDS</a:t>
            </a:r>
          </a:p>
        </p:txBody>
      </p:sp>
      <p:sp>
        <p:nvSpPr>
          <p:cNvPr id="11" name="TextBox 10"/>
          <p:cNvSpPr txBox="1"/>
          <p:nvPr/>
        </p:nvSpPr>
        <p:spPr>
          <a:xfrm>
            <a:off x="667512" y="5477256"/>
            <a:ext cx="5394960" cy="859536"/>
          </a:xfrm>
          <a:prstGeom prst="rect">
            <a:avLst/>
          </a:prstGeom>
          <a:noFill/>
        </p:spPr>
        <p:txBody>
          <a:bodyPr wrap="square" anchor="t" lIns="45720" rIns="45720" tIns="27432" bIns="27432">
            <a:spAutoFit/>
          </a:bodyPr>
          <a:lstStyle/>
          <a:p>
            <a:pPr algn="l">
              <a:spcAft>
                <a:spcPts val="500"/>
              </a:spcAft>
            </a:pPr>
            <a:r>
              <a:rPr sz="1100" b="0">
                <a:solidFill>
                  <a:srgbClr val="4D4D4D"/>
                </a:solidFill>
                <a:latin typeface="Calibri"/>
              </a:rPr>
              <a:t>When the groups value privacy differently, the outcome is predictable: the group that cares least ends up carrying the batch and the exposure. Who gets exposed is set by preferences, not chance. Being the smaller group, on its own, does not protect you.</a:t>
            </a:r>
          </a:p>
        </p:txBody>
      </p:sp>
      <p:sp>
        <p:nvSpPr>
          <p:cNvPr id="12" name="TextBox 11"/>
          <p:cNvSpPr txBox="1"/>
          <p:nvPr/>
        </p:nvSpPr>
        <p:spPr>
          <a:xfrm>
            <a:off x="6446520" y="1572768"/>
            <a:ext cx="528797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WHAT WE LOOKED AT</a:t>
            </a:r>
          </a:p>
        </p:txBody>
      </p:sp>
      <p:sp>
        <p:nvSpPr>
          <p:cNvPr id="13" name="TextBox 12"/>
          <p:cNvSpPr txBox="1"/>
          <p:nvPr/>
        </p:nvSpPr>
        <p:spPr>
          <a:xfrm>
            <a:off x="6446520" y="1847088"/>
            <a:ext cx="5287975" cy="1143000"/>
          </a:xfrm>
          <a:prstGeom prst="rect">
            <a:avLst/>
          </a:prstGeom>
          <a:noFill/>
        </p:spPr>
        <p:txBody>
          <a:bodyPr wrap="square" anchor="t" lIns="45720" rIns="45720" tIns="27432" bIns="27432">
            <a:spAutoFit/>
          </a:bodyPr>
          <a:lstStyle/>
          <a:p>
            <a:pPr algn="l">
              <a:spcAft>
                <a:spcPts val="500"/>
              </a:spcAft>
            </a:pPr>
            <a:r>
              <a:rPr sz="1150" b="1">
                <a:solidFill>
                  <a:srgbClr val="FD8C3B"/>
                </a:solidFill>
                <a:latin typeface="Calibri"/>
              </a:rPr>
              <a:t>•  </a:t>
            </a:r>
            <a:r>
              <a:rPr sz="1150" b="0">
                <a:solidFill>
                  <a:srgbClr val="4D4D4D"/>
                </a:solidFill>
                <a:latin typeface="Calibri"/>
              </a:rPr>
              <a:t>λ</a:t>
            </a:r>
            <a:r>
              <a:rPr sz="1150" b="0" baseline="-25000">
                <a:solidFill>
                  <a:srgbClr val="4D4D4D"/>
                </a:solidFill>
                <a:latin typeface="Calibri"/>
              </a:rPr>
              <a:t>1</a:t>
            </a:r>
            <a:r>
              <a:rPr sz="1150" b="0">
                <a:solidFill>
                  <a:srgbClr val="4D4D4D"/>
                </a:solidFill>
                <a:latin typeface="Calibri"/>
              </a:rPr>
              <a:t>/λ</a:t>
            </a:r>
            <a:r>
              <a:rPr sz="1150" b="0" baseline="-25000">
                <a:solidFill>
                  <a:srgbClr val="4D4D4D"/>
                </a:solidFill>
                <a:latin typeface="Calibri"/>
              </a:rPr>
              <a:t>2</a:t>
            </a:r>
            <a:r>
              <a:rPr sz="1150" b="0">
                <a:solidFill>
                  <a:srgbClr val="4D4D4D"/>
                </a:solidFill>
                <a:latin typeface="Calibri"/>
              </a:rPr>
              <a:t> ∈ {0.25, 0.5, 1, 2, 4}, K = 200; group-size ratios 0.1–10; n = 3–10 players with λ</a:t>
            </a:r>
            <a:r>
              <a:rPr sz="1150" b="0" baseline="-25000">
                <a:solidFill>
                  <a:srgbClr val="4D4D4D"/>
                </a:solidFill>
                <a:latin typeface="Calibri"/>
              </a:rPr>
              <a:t>i</a:t>
            </a:r>
            <a:r>
              <a:rPr sz="1150" b="0">
                <a:solidFill>
                  <a:srgbClr val="4D4D4D"/>
                </a:solidFill>
                <a:latin typeface="Calibri"/>
              </a:rPr>
              <a:t> ∈ geomspace(0.25, 4).</a:t>
            </a:r>
          </a:p>
        </p:txBody>
      </p:sp>
      <p:sp>
        <p:nvSpPr>
          <p:cNvPr id="14" name="TextBox 13"/>
          <p:cNvSpPr txBox="1"/>
          <p:nvPr/>
        </p:nvSpPr>
        <p:spPr>
          <a:xfrm>
            <a:off x="6446520" y="3017520"/>
            <a:ext cx="528797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WHAT WE FOUND</a:t>
            </a:r>
          </a:p>
        </p:txBody>
      </p:sp>
      <p:sp>
        <p:nvSpPr>
          <p:cNvPr id="15" name="TextBox 14"/>
          <p:cNvSpPr txBox="1"/>
          <p:nvPr/>
        </p:nvSpPr>
        <p:spPr>
          <a:xfrm>
            <a:off x="6446520" y="3291839"/>
            <a:ext cx="5287975" cy="1508760"/>
          </a:xfrm>
          <a:prstGeom prst="rect">
            <a:avLst/>
          </a:prstGeom>
          <a:noFill/>
        </p:spPr>
        <p:txBody>
          <a:bodyPr wrap="square" anchor="t" lIns="45720" rIns="45720" tIns="27432" bIns="27432">
            <a:spAutoFit/>
          </a:bodyPr>
          <a:lstStyle/>
          <a:p>
            <a:pPr algn="l">
              <a:spcAft>
                <a:spcPts val="500"/>
              </a:spcAft>
            </a:pPr>
            <a:r>
              <a:rPr sz="1250" b="1">
                <a:solidFill>
                  <a:srgbClr val="FD8C3B"/>
                </a:solidFill>
                <a:latin typeface="Calibri"/>
              </a:rPr>
              <a:t>•  </a:t>
            </a:r>
            <a:r>
              <a:rPr sz="1250" b="1">
                <a:solidFill>
                  <a:srgbClr val="08306B"/>
                </a:solidFill>
                <a:latin typeface="Calibri"/>
              </a:rPr>
              <a:t>170/174</a:t>
            </a:r>
            <a:r>
              <a:rPr sz="1250" b="0">
                <a:solidFill>
                  <a:srgbClr val="4D4D4D"/>
                </a:solidFill>
                <a:latin typeface="Calibri"/>
              </a:rPr>
              <a:t> heterogeneous NE give the lower budget to the more sensitive player; the cloud jumps sides at λ</a:t>
            </a:r>
            <a:r>
              <a:rPr sz="1250" b="0" baseline="-25000">
                <a:solidFill>
                  <a:srgbClr val="4D4D4D"/>
                </a:solidFill>
                <a:latin typeface="Calibri"/>
              </a:rPr>
              <a:t>1</a:t>
            </a:r>
            <a:r>
              <a:rPr sz="1250" b="0">
                <a:solidFill>
                  <a:srgbClr val="4D4D4D"/>
                </a:solidFill>
                <a:latin typeface="Calibri"/>
              </a:rPr>
              <a:t> = λ</a:t>
            </a:r>
            <a:r>
              <a:rPr sz="1250" b="0" baseline="-25000">
                <a:solidFill>
                  <a:srgbClr val="4D4D4D"/>
                </a:solidFill>
                <a:latin typeface="Calibri"/>
              </a:rPr>
              <a:t>2</a:t>
            </a:r>
            <a:r>
              <a:rPr sz="1250" b="0">
                <a:solidFill>
                  <a:srgbClr val="4D4D4D"/>
                </a:solidFill>
                <a:latin typeface="Calibri"/>
              </a:rPr>
              <a:t>.</a:t>
            </a:r>
          </a:p>
          <a:p>
            <a:pPr algn="l">
              <a:spcAft>
                <a:spcPts val="500"/>
              </a:spcAft>
            </a:pPr>
            <a:r>
              <a:rPr sz="1250" b="1">
                <a:solidFill>
                  <a:srgbClr val="FD8C3B"/>
                </a:solidFill>
                <a:latin typeface="Calibri"/>
              </a:rPr>
              <a:t>•  </a:t>
            </a:r>
            <a:r>
              <a:rPr sz="1250" b="0">
                <a:solidFill>
                  <a:srgbClr val="4D4D4D"/>
                </a:solidFill>
                <a:latin typeface="Calibri"/>
              </a:rPr>
              <a:t>Group size does </a:t>
            </a:r>
            <a:r>
              <a:rPr sz="1250" b="1">
                <a:solidFill>
                  <a:srgbClr val="08306B"/>
                </a:solidFill>
                <a:latin typeface="Calibri"/>
              </a:rPr>
              <a:t>not</a:t>
            </a:r>
            <a:r>
              <a:rPr sz="1250" b="0">
                <a:solidFill>
                  <a:srgbClr val="4D4D4D"/>
                </a:solidFill>
                <a:latin typeface="Calibri"/>
              </a:rPr>
              <a:t> sort: smaller groups appear in both roles.</a:t>
            </a:r>
          </a:p>
          <a:p>
            <a:pPr algn="l">
              <a:spcAft>
                <a:spcPts val="500"/>
              </a:spcAft>
            </a:pPr>
            <a:r>
              <a:rPr sz="1250" b="1">
                <a:solidFill>
                  <a:srgbClr val="FD8C3B"/>
                </a:solidFill>
                <a:latin typeface="Calibri"/>
              </a:rPr>
              <a:t>•  </a:t>
            </a:r>
            <a:r>
              <a:rPr sz="1250" b="0">
                <a:solidFill>
                  <a:srgbClr val="4D4D4D"/>
                </a:solidFill>
                <a:latin typeface="Calibri"/>
              </a:rPr>
              <a:t>n = 3–10: budget order is the exact reverse of λ order in every NE.</a:t>
            </a:r>
          </a:p>
        </p:txBody>
      </p:sp>
      <p:sp>
        <p:nvSpPr>
          <p:cNvPr id="16" name="TextBox 15"/>
          <p:cNvSpPr txBox="1"/>
          <p:nvPr/>
        </p:nvSpPr>
        <p:spPr>
          <a:xfrm>
            <a:off x="6446520" y="4846320"/>
            <a:ext cx="528797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HOW MUCH TO TRUST IT</a:t>
            </a:r>
          </a:p>
        </p:txBody>
      </p:sp>
      <p:sp>
        <p:nvSpPr>
          <p:cNvPr id="17" name="Rounded Rectangle 16"/>
          <p:cNvSpPr/>
          <p:nvPr/>
        </p:nvSpPr>
        <p:spPr>
          <a:xfrm>
            <a:off x="6446520" y="5138928"/>
            <a:ext cx="1600200" cy="27432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a:solidFill>
                  <a:srgbClr val="FFFFFF"/>
                </a:solidFill>
                <a:latin typeface="Calibri"/>
              </a:rPr>
              <a:t>A · proved / exact</a:t>
            </a:r>
          </a:p>
        </p:txBody>
      </p:sp>
      <p:sp>
        <p:nvSpPr>
          <p:cNvPr id="18" name="Rounded Rectangle 17"/>
          <p:cNvSpPr/>
          <p:nvPr/>
        </p:nvSpPr>
        <p:spPr>
          <a:xfrm>
            <a:off x="8138160" y="5138928"/>
            <a:ext cx="1600200" cy="274320"/>
          </a:xfrm>
          <a:prstGeom prst="roundRect">
            <a:avLst>
              <a:gd name="adj" fmla="val 50000"/>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a:solidFill>
                  <a:srgbClr val="FFFFFF"/>
                </a:solidFill>
                <a:latin typeface="Calibri"/>
              </a:rPr>
              <a:t>B · solid numerics</a:t>
            </a:r>
          </a:p>
        </p:txBody>
      </p:sp>
      <p:sp>
        <p:nvSpPr>
          <p:cNvPr id="19" name="TextBox 18"/>
          <p:cNvSpPr txBox="1"/>
          <p:nvPr/>
        </p:nvSpPr>
        <p:spPr>
          <a:xfrm>
            <a:off x="6446520" y="5468112"/>
            <a:ext cx="5287975" cy="868680"/>
          </a:xfrm>
          <a:prstGeom prst="rect">
            <a:avLst/>
          </a:prstGeom>
          <a:noFill/>
        </p:spPr>
        <p:txBody>
          <a:bodyPr wrap="square" anchor="t" lIns="45720" rIns="45720" tIns="27432" bIns="27432">
            <a:spAutoFit/>
          </a:bodyPr>
          <a:lstStyle/>
          <a:p>
            <a:pPr algn="l">
              <a:spcAft>
                <a:spcPts val="300"/>
              </a:spcAft>
            </a:pPr>
            <a:r>
              <a:rPr sz="1100" b="1">
                <a:solidFill>
                  <a:srgbClr val="FD8C3B"/>
                </a:solidFill>
                <a:latin typeface="Calibri"/>
              </a:rPr>
              <a:t>•  </a:t>
            </a:r>
            <a:r>
              <a:rPr sz="1100" b="0">
                <a:solidFill>
                  <a:srgbClr val="4D4D4D"/>
                </a:solidFill>
                <a:latin typeface="Calibri"/>
              </a:rPr>
              <a:t>Proved under an exchange condition; λ sweep post-fix. n-player: 100% sorting up to n = 10 (coarse 7-action grid).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320040"/>
          </a:xfrm>
          <a:prstGeom prst="rect">
            <a:avLst/>
          </a:prstGeom>
          <a:noFill/>
        </p:spPr>
        <p:txBody>
          <a:bodyPr wrap="square" anchor="t" lIns="45720" rIns="45720" tIns="27432" bIns="27432">
            <a:spAutoFit/>
          </a:bodyPr>
          <a:lstStyle/>
          <a:p>
            <a:pPr algn="l">
              <a:spcAft>
                <a:spcPts val="500"/>
              </a:spcAft>
            </a:pPr>
            <a:r>
              <a:rPr sz="1200" b="1">
                <a:solidFill>
                  <a:srgbClr val="FD8C3B"/>
                </a:solidFill>
                <a:latin typeface="Calibri"/>
              </a:rPr>
              <a:t>FINDING 8 · MECHANISM, NOT PARADIGM</a:t>
            </a:r>
          </a:p>
        </p:txBody>
      </p:sp>
      <p:sp>
        <p:nvSpPr>
          <p:cNvPr id="3" name="TextBox 2"/>
          <p:cNvSpPr txBox="1"/>
          <p:nvPr/>
        </p:nvSpPr>
        <p:spPr>
          <a:xfrm>
            <a:off x="502920" y="566928"/>
            <a:ext cx="11247120" cy="868680"/>
          </a:xfrm>
          <a:prstGeom prst="rect">
            <a:avLst/>
          </a:prstGeom>
          <a:noFill/>
        </p:spPr>
        <p:txBody>
          <a:bodyPr wrap="square" anchor="t" lIns="45720" rIns="45720" tIns="27432" bIns="27432">
            <a:spAutoFit/>
          </a:bodyPr>
          <a:lstStyle/>
          <a:p>
            <a:pPr algn="l">
              <a:spcAft>
                <a:spcPts val="500"/>
              </a:spcAft>
            </a:pPr>
            <a:r>
              <a:rPr sz="2600" b="1">
                <a:solidFill>
                  <a:srgbClr val="08306B"/>
                </a:solidFill>
                <a:latin typeface="Calibri"/>
              </a:rPr>
              <a:t>Individual budgets don't cause it; the shared sampling solve does</a:t>
            </a:r>
          </a:p>
        </p:txBody>
      </p:sp>
      <p:cxnSp>
        <p:nvCxnSpPr>
          <p:cNvPr id="4" name="Connector 3"/>
          <p:cNvCxnSpPr/>
          <p:nvPr/>
        </p:nvCxnSpPr>
        <p:spPr>
          <a:xfrm>
            <a:off x="548640" y="1417320"/>
            <a:ext cx="11091672" cy="0"/>
          </a:xfrm>
          <a:prstGeom prst="line">
            <a:avLst/>
          </a:prstGeom>
          <a:ln w="12700">
            <a:solidFill>
              <a:srgbClr val="D0D6D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46520"/>
            <a:ext cx="7315200" cy="274320"/>
          </a:xfrm>
          <a:prstGeom prst="rect">
            <a:avLst/>
          </a:prstGeom>
          <a:noFill/>
        </p:spPr>
        <p:txBody>
          <a:bodyPr wrap="square" anchor="t" lIns="45720" rIns="45720" tIns="27432" bIns="27432">
            <a:spAutoFit/>
          </a:bodyPr>
          <a:lstStyle/>
          <a:p>
            <a:pPr algn="l">
              <a:spcAft>
                <a:spcPts val="500"/>
              </a:spcAft>
            </a:pPr>
            <a:r>
              <a:rPr sz="900" b="0">
                <a:solidFill>
                  <a:srgbClr val="8A8A8A"/>
                </a:solidFill>
                <a:latin typeface="Calibri"/>
              </a:rPr>
              <a:t>The Privacy Externality Game · strategic budgets in sampling-based iDP</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spcAft>
                <a:spcPts val="500"/>
              </a:spcAft>
            </a:pPr>
            <a:r>
              <a:rPr sz="900" b="0">
                <a:solidFill>
                  <a:srgbClr val="8A8A8A"/>
                </a:solidFill>
                <a:latin typeface="Calibri"/>
              </a:rPr>
              <a:t>9</a:t>
            </a:r>
          </a:p>
        </p:txBody>
      </p:sp>
      <p:pic>
        <p:nvPicPr>
          <p:cNvPr id="7" name="Picture 6" descr="fig_scale_ne.png"/>
          <p:cNvPicPr>
            <a:picLocks noChangeAspect="1"/>
          </p:cNvPicPr>
          <p:nvPr/>
        </p:nvPicPr>
        <p:blipFill>
          <a:blip r:embed="rId2"/>
          <a:stretch>
            <a:fillRect/>
          </a:stretch>
        </p:blipFill>
        <p:spPr>
          <a:xfrm>
            <a:off x="1409552" y="1572768"/>
            <a:ext cx="3673134" cy="3310128"/>
          </a:xfrm>
          <a:prstGeom prst="rect">
            <a:avLst/>
          </a:prstGeom>
        </p:spPr>
      </p:pic>
      <p:sp>
        <p:nvSpPr>
          <p:cNvPr id="8" name="Rectangle 7"/>
          <p:cNvSpPr/>
          <p:nvPr/>
        </p:nvSpPr>
        <p:spPr>
          <a:xfrm>
            <a:off x="502920" y="5175504"/>
            <a:ext cx="5486400" cy="1207008"/>
          </a:xfrm>
          <a:prstGeom prst="rect">
            <a:avLst/>
          </a:prstGeom>
          <a:solidFill>
            <a:srgbClr val="FF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5175504"/>
            <a:ext cx="54864" cy="1207008"/>
          </a:xfrm>
          <a:prstGeom prst="rect">
            <a:avLst/>
          </a:prstGeom>
          <a:solidFill>
            <a:srgbClr val="FD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5230368"/>
            <a:ext cx="5212080" cy="256032"/>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IN PLAIN WORDS</a:t>
            </a:r>
          </a:p>
        </p:txBody>
      </p:sp>
      <p:sp>
        <p:nvSpPr>
          <p:cNvPr id="11" name="TextBox 10"/>
          <p:cNvSpPr txBox="1"/>
          <p:nvPr/>
        </p:nvSpPr>
        <p:spPr>
          <a:xfrm>
            <a:off x="667512" y="5477256"/>
            <a:ext cx="5212080" cy="859536"/>
          </a:xfrm>
          <a:prstGeom prst="rect">
            <a:avLst/>
          </a:prstGeom>
          <a:noFill/>
        </p:spPr>
        <p:txBody>
          <a:bodyPr wrap="square" anchor="t" lIns="45720" rIns="45720" tIns="27432" bIns="27432">
            <a:spAutoFit/>
          </a:bodyPr>
          <a:lstStyle/>
          <a:p>
            <a:pPr algn="l">
              <a:spcAft>
                <a:spcPts val="500"/>
              </a:spcAft>
            </a:pPr>
            <a:r>
              <a:rPr sz="1100" b="0">
                <a:solidFill>
                  <a:srgbClr val="4D4D4D"/>
                </a:solidFill>
                <a:latin typeface="Calibri"/>
              </a:rPr>
              <a:t>The other common way to give personal budgets changes each group's gradient clipping instead of its sampling rate. There your risk depends only on your own choice, and both groups simply pick the same budget. So the trouble comes from how sampling-based iDP fills the batch, not from personal budgets.</a:t>
            </a:r>
          </a:p>
        </p:txBody>
      </p:sp>
      <p:sp>
        <p:nvSpPr>
          <p:cNvPr id="12" name="TextBox 11"/>
          <p:cNvSpPr txBox="1"/>
          <p:nvPr/>
        </p:nvSpPr>
        <p:spPr>
          <a:xfrm>
            <a:off x="6263640" y="1572768"/>
            <a:ext cx="547085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WHAT WE LOOKED AT</a:t>
            </a:r>
          </a:p>
        </p:txBody>
      </p:sp>
      <p:sp>
        <p:nvSpPr>
          <p:cNvPr id="13" name="TextBox 12"/>
          <p:cNvSpPr txBox="1"/>
          <p:nvPr/>
        </p:nvSpPr>
        <p:spPr>
          <a:xfrm>
            <a:off x="6263640" y="1847088"/>
            <a:ext cx="5470855" cy="1143000"/>
          </a:xfrm>
          <a:prstGeom prst="rect">
            <a:avLst/>
          </a:prstGeom>
          <a:noFill/>
        </p:spPr>
        <p:txBody>
          <a:bodyPr wrap="square" anchor="t" lIns="45720" rIns="45720" tIns="27432" bIns="27432">
            <a:spAutoFit/>
          </a:bodyPr>
          <a:lstStyle/>
          <a:p>
            <a:pPr algn="l">
              <a:spcAft>
                <a:spcPts val="500"/>
              </a:spcAft>
            </a:pPr>
            <a:r>
              <a:rPr sz="1150" b="1">
                <a:solidFill>
                  <a:srgbClr val="FD8C3B"/>
                </a:solidFill>
                <a:latin typeface="Calibri"/>
              </a:rPr>
              <a:t>•  </a:t>
            </a:r>
            <a:r>
              <a:rPr sz="1150" b="0">
                <a:solidFill>
                  <a:srgbClr val="4D4D4D"/>
                </a:solidFill>
                <a:latin typeface="Calibri"/>
              </a:rPr>
              <a:t>Same game, same grid, same V and λ, replayed through sensitivity-based iDP (per-group clipping under shared σ): A</a:t>
            </a:r>
            <a:r>
              <a:rPr sz="1150" b="0" baseline="-25000">
                <a:solidFill>
                  <a:srgbClr val="4D4D4D"/>
                </a:solidFill>
                <a:latin typeface="Calibri"/>
              </a:rPr>
              <a:t>i</a:t>
            </a:r>
            <a:r>
              <a:rPr sz="1150" b="0">
                <a:solidFill>
                  <a:srgbClr val="4D4D4D"/>
                </a:solidFill>
                <a:latin typeface="Calibri"/>
              </a:rPr>
              <a:t> depends on ε</a:t>
            </a:r>
            <a:r>
              <a:rPr sz="1150" b="0" baseline="-25000">
                <a:solidFill>
                  <a:srgbClr val="4D4D4D"/>
                </a:solidFill>
                <a:latin typeface="Calibri"/>
              </a:rPr>
              <a:t>i</a:t>
            </a:r>
            <a:r>
              <a:rPr sz="1150" b="0">
                <a:solidFill>
                  <a:srgbClr val="4D4D4D"/>
                </a:solidFill>
                <a:latin typeface="Calibri"/>
              </a:rPr>
              <a:t> only.</a:t>
            </a:r>
          </a:p>
        </p:txBody>
      </p:sp>
      <p:sp>
        <p:nvSpPr>
          <p:cNvPr id="14" name="TextBox 13"/>
          <p:cNvSpPr txBox="1"/>
          <p:nvPr/>
        </p:nvSpPr>
        <p:spPr>
          <a:xfrm>
            <a:off x="6263640" y="3017520"/>
            <a:ext cx="547085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WHAT WE FOUND</a:t>
            </a:r>
          </a:p>
        </p:txBody>
      </p:sp>
      <p:sp>
        <p:nvSpPr>
          <p:cNvPr id="15" name="TextBox 14"/>
          <p:cNvSpPr txBox="1"/>
          <p:nvPr/>
        </p:nvSpPr>
        <p:spPr>
          <a:xfrm>
            <a:off x="6263640" y="3291839"/>
            <a:ext cx="5470855" cy="1508760"/>
          </a:xfrm>
          <a:prstGeom prst="rect">
            <a:avLst/>
          </a:prstGeom>
          <a:noFill/>
        </p:spPr>
        <p:txBody>
          <a:bodyPr wrap="square" anchor="t" lIns="45720" rIns="45720" tIns="27432" bIns="27432">
            <a:spAutoFit/>
          </a:bodyPr>
          <a:lstStyle/>
          <a:p>
            <a:pPr algn="l">
              <a:spcAft>
                <a:spcPts val="500"/>
              </a:spcAft>
            </a:pPr>
            <a:r>
              <a:rPr sz="1250" b="1">
                <a:solidFill>
                  <a:srgbClr val="FD8C3B"/>
                </a:solidFill>
                <a:latin typeface="Calibri"/>
              </a:rPr>
              <a:t>•  </a:t>
            </a:r>
            <a:r>
              <a:rPr sz="1250" b="0">
                <a:solidFill>
                  <a:srgbClr val="4D4D4D"/>
                </a:solidFill>
                <a:latin typeface="Calibri"/>
              </a:rPr>
              <a:t>Sensitivity-based: </a:t>
            </a:r>
            <a:r>
              <a:rPr sz="1250" b="1">
                <a:solidFill>
                  <a:srgbClr val="08306B"/>
                </a:solidFill>
                <a:latin typeface="Calibri"/>
              </a:rPr>
              <a:t>exactly one</a:t>
            </a:r>
            <a:r>
              <a:rPr sz="1250" b="0">
                <a:solidFill>
                  <a:srgbClr val="4D4D4D"/>
                </a:solidFill>
                <a:latin typeface="Calibri"/>
              </a:rPr>
              <a:t> pure NE, symmetric at (5.73, 5.73).</a:t>
            </a:r>
          </a:p>
          <a:p>
            <a:pPr algn="l">
              <a:spcAft>
                <a:spcPts val="500"/>
              </a:spcAft>
            </a:pPr>
            <a:r>
              <a:rPr sz="1250" b="1">
                <a:solidFill>
                  <a:srgbClr val="FD8C3B"/>
                </a:solidFill>
                <a:latin typeface="Calibri"/>
              </a:rPr>
              <a:t>•  </a:t>
            </a:r>
            <a:r>
              <a:rPr sz="1250" b="0">
                <a:solidFill>
                  <a:srgbClr val="4D4D4D"/>
                </a:solidFill>
                <a:latin typeface="Calibri"/>
              </a:rPr>
              <a:t>Same holds for λ ∈ {0.25, 0.5, 1}.</a:t>
            </a:r>
          </a:p>
          <a:p>
            <a:pPr algn="l">
              <a:spcAft>
                <a:spcPts val="500"/>
              </a:spcAft>
            </a:pPr>
            <a:r>
              <a:rPr sz="1250" b="1">
                <a:solidFill>
                  <a:srgbClr val="FD8C3B"/>
                </a:solidFill>
                <a:latin typeface="Calibri"/>
              </a:rPr>
              <a:t>•  </a:t>
            </a:r>
            <a:r>
              <a:rPr sz="1250" b="0">
                <a:solidFill>
                  <a:srgbClr val="4D4D4D"/>
                </a:solidFill>
                <a:latin typeface="Calibri"/>
              </a:rPr>
              <a:t>Sampling-based: 43 NE, 42 asymmetric.</a:t>
            </a:r>
          </a:p>
        </p:txBody>
      </p:sp>
      <p:sp>
        <p:nvSpPr>
          <p:cNvPr id="16" name="TextBox 15"/>
          <p:cNvSpPr txBox="1"/>
          <p:nvPr/>
        </p:nvSpPr>
        <p:spPr>
          <a:xfrm>
            <a:off x="6263640" y="4846320"/>
            <a:ext cx="547085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HOW MUCH TO TRUST IT</a:t>
            </a:r>
          </a:p>
        </p:txBody>
      </p:sp>
      <p:sp>
        <p:nvSpPr>
          <p:cNvPr id="17" name="Rounded Rectangle 16"/>
          <p:cNvSpPr/>
          <p:nvPr/>
        </p:nvSpPr>
        <p:spPr>
          <a:xfrm>
            <a:off x="6263640" y="5138928"/>
            <a:ext cx="1600200" cy="274320"/>
          </a:xfrm>
          <a:prstGeom prst="roundRect">
            <a:avLst>
              <a:gd name="adj" fmla="val 50000"/>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a:solidFill>
                  <a:srgbClr val="FFFFFF"/>
                </a:solidFill>
                <a:latin typeface="Calibri"/>
              </a:rPr>
              <a:t>B · solid numerics</a:t>
            </a:r>
          </a:p>
        </p:txBody>
      </p:sp>
      <p:sp>
        <p:nvSpPr>
          <p:cNvPr id="18" name="TextBox 17"/>
          <p:cNvSpPr txBox="1"/>
          <p:nvPr/>
        </p:nvSpPr>
        <p:spPr>
          <a:xfrm>
            <a:off x="6263640" y="5468112"/>
            <a:ext cx="5470855" cy="868680"/>
          </a:xfrm>
          <a:prstGeom prst="rect">
            <a:avLst/>
          </a:prstGeom>
          <a:noFill/>
        </p:spPr>
        <p:txBody>
          <a:bodyPr wrap="square" anchor="t" lIns="45720" rIns="45720" tIns="27432" bIns="27432">
            <a:spAutoFit/>
          </a:bodyPr>
          <a:lstStyle/>
          <a:p>
            <a:pPr algn="l">
              <a:spcAft>
                <a:spcPts val="300"/>
              </a:spcAft>
            </a:pPr>
            <a:r>
              <a:rPr sz="1100" b="1">
                <a:solidFill>
                  <a:srgbClr val="FD8C3B"/>
                </a:solidFill>
                <a:latin typeface="Calibri"/>
              </a:rPr>
              <a:t>•  </a:t>
            </a:r>
            <a:r>
              <a:rPr sz="1100" b="0">
                <a:solidFill>
                  <a:srgbClr val="4D4D4D"/>
                </a:solidFill>
                <a:latin typeface="Calibri"/>
              </a:rPr>
              <a:t>Post-fix K = 200 caches for both mechanisms. It acts as a control: remove the coupling and the Hawk–Dove structure disappears.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320040"/>
          </a:xfrm>
          <a:prstGeom prst="rect">
            <a:avLst/>
          </a:prstGeom>
          <a:noFill/>
        </p:spPr>
        <p:txBody>
          <a:bodyPr wrap="square" anchor="t" lIns="45720" rIns="45720" tIns="27432" bIns="27432">
            <a:spAutoFit/>
          </a:bodyPr>
          <a:lstStyle/>
          <a:p>
            <a:pPr algn="l">
              <a:spcAft>
                <a:spcPts val="500"/>
              </a:spcAft>
            </a:pPr>
            <a:r>
              <a:rPr sz="1200" b="1">
                <a:solidFill>
                  <a:srgbClr val="FD8C3B"/>
                </a:solidFill>
                <a:latin typeface="Calibri"/>
              </a:rPr>
              <a:t>FINDING 9 · WELFARE</a:t>
            </a:r>
          </a:p>
        </p:txBody>
      </p:sp>
      <p:sp>
        <p:nvSpPr>
          <p:cNvPr id="3" name="TextBox 2"/>
          <p:cNvSpPr txBox="1"/>
          <p:nvPr/>
        </p:nvSpPr>
        <p:spPr>
          <a:xfrm>
            <a:off x="502920" y="566928"/>
            <a:ext cx="11247120" cy="868680"/>
          </a:xfrm>
          <a:prstGeom prst="rect">
            <a:avLst/>
          </a:prstGeom>
          <a:noFill/>
        </p:spPr>
        <p:txBody>
          <a:bodyPr wrap="square" anchor="t" lIns="45720" rIns="45720" tIns="27432" bIns="27432">
            <a:spAutoFit/>
          </a:bodyPr>
          <a:lstStyle/>
          <a:p>
            <a:pPr algn="l">
              <a:spcAft>
                <a:spcPts val="500"/>
              </a:spcAft>
            </a:pPr>
            <a:r>
              <a:rPr sz="2600" b="1">
                <a:solidFill>
                  <a:srgbClr val="08306B"/>
                </a:solidFill>
                <a:latin typeface="Calibri"/>
              </a:rPr>
              <a:t>Selfish play assigns the roles efficiently, but never pays the carrier</a:t>
            </a:r>
          </a:p>
        </p:txBody>
      </p:sp>
      <p:cxnSp>
        <p:nvCxnSpPr>
          <p:cNvPr id="4" name="Connector 3"/>
          <p:cNvCxnSpPr/>
          <p:nvPr/>
        </p:nvCxnSpPr>
        <p:spPr>
          <a:xfrm>
            <a:off x="548640" y="1417320"/>
            <a:ext cx="11091672" cy="0"/>
          </a:xfrm>
          <a:prstGeom prst="line">
            <a:avLst/>
          </a:prstGeom>
          <a:ln w="12700">
            <a:solidFill>
              <a:srgbClr val="D0D6D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46520"/>
            <a:ext cx="7315200" cy="274320"/>
          </a:xfrm>
          <a:prstGeom prst="rect">
            <a:avLst/>
          </a:prstGeom>
          <a:noFill/>
        </p:spPr>
        <p:txBody>
          <a:bodyPr wrap="square" anchor="t" lIns="45720" rIns="45720" tIns="27432" bIns="27432">
            <a:spAutoFit/>
          </a:bodyPr>
          <a:lstStyle/>
          <a:p>
            <a:pPr algn="l">
              <a:spcAft>
                <a:spcPts val="500"/>
              </a:spcAft>
            </a:pPr>
            <a:r>
              <a:rPr sz="900" b="0">
                <a:solidFill>
                  <a:srgbClr val="8A8A8A"/>
                </a:solidFill>
                <a:latin typeface="Calibri"/>
              </a:rPr>
              <a:t>The Privacy Externality Game · strategic budgets in sampling-based iDP</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spcAft>
                <a:spcPts val="500"/>
              </a:spcAft>
            </a:pPr>
            <a:r>
              <a:rPr sz="900" b="0">
                <a:solidFill>
                  <a:srgbClr val="8A8A8A"/>
                </a:solidFill>
                <a:latin typeface="Calibri"/>
              </a:rPr>
              <a:t>10</a:t>
            </a:r>
          </a:p>
        </p:txBody>
      </p:sp>
      <p:pic>
        <p:nvPicPr>
          <p:cNvPr id="7" name="Picture 6" descr="fig_welfare.png"/>
          <p:cNvPicPr>
            <a:picLocks noChangeAspect="1"/>
          </p:cNvPicPr>
          <p:nvPr/>
        </p:nvPicPr>
        <p:blipFill>
          <a:blip r:embed="rId2"/>
          <a:stretch>
            <a:fillRect/>
          </a:stretch>
        </p:blipFill>
        <p:spPr>
          <a:xfrm>
            <a:off x="1048209" y="1572768"/>
            <a:ext cx="4944460" cy="3310128"/>
          </a:xfrm>
          <a:prstGeom prst="rect">
            <a:avLst/>
          </a:prstGeom>
        </p:spPr>
      </p:pic>
      <p:sp>
        <p:nvSpPr>
          <p:cNvPr id="8" name="Rectangle 7"/>
          <p:cNvSpPr/>
          <p:nvPr/>
        </p:nvSpPr>
        <p:spPr>
          <a:xfrm>
            <a:off x="502920" y="5175504"/>
            <a:ext cx="6035040" cy="1207008"/>
          </a:xfrm>
          <a:prstGeom prst="rect">
            <a:avLst/>
          </a:prstGeom>
          <a:solidFill>
            <a:srgbClr val="FF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5175504"/>
            <a:ext cx="54864" cy="1207008"/>
          </a:xfrm>
          <a:prstGeom prst="rect">
            <a:avLst/>
          </a:prstGeom>
          <a:solidFill>
            <a:srgbClr val="FD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5230368"/>
            <a:ext cx="5760720" cy="256032"/>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IN PLAIN WORDS</a:t>
            </a:r>
          </a:p>
        </p:txBody>
      </p:sp>
      <p:sp>
        <p:nvSpPr>
          <p:cNvPr id="11" name="TextBox 10"/>
          <p:cNvSpPr txBox="1"/>
          <p:nvPr/>
        </p:nvSpPr>
        <p:spPr>
          <a:xfrm>
            <a:off x="667512" y="5477256"/>
            <a:ext cx="5760720" cy="859536"/>
          </a:xfrm>
          <a:prstGeom prst="rect">
            <a:avLst/>
          </a:prstGeom>
          <a:noFill/>
        </p:spPr>
        <p:txBody>
          <a:bodyPr wrap="square" anchor="t" lIns="45720" rIns="45720" tIns="27432" bIns="27432">
            <a:spAutoFit/>
          </a:bodyPr>
          <a:lstStyle/>
          <a:p>
            <a:pPr algn="l">
              <a:spcAft>
                <a:spcPts val="500"/>
              </a:spcAft>
            </a:pPr>
            <a:r>
              <a:rPr sz="1100" b="0">
                <a:solidFill>
                  <a:srgbClr val="4D4D4D"/>
                </a:solidFill>
                <a:latin typeface="Calibri"/>
              </a:rPr>
              <a:t>Even a fair-minded planner would let one group carry the batch, because concentrating exposure costs less overall. Selfish play gets fairly close (about 9% worse), but nobody pays the carrier back. Forcing equal budgets on groups that care differently is the worst option.</a:t>
            </a:r>
          </a:p>
        </p:txBody>
      </p:sp>
      <p:sp>
        <p:nvSpPr>
          <p:cNvPr id="12" name="TextBox 11"/>
          <p:cNvSpPr txBox="1"/>
          <p:nvPr/>
        </p:nvSpPr>
        <p:spPr>
          <a:xfrm>
            <a:off x="6812279" y="1572768"/>
            <a:ext cx="492221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WHAT WE LOOKED AT</a:t>
            </a:r>
          </a:p>
        </p:txBody>
      </p:sp>
      <p:sp>
        <p:nvSpPr>
          <p:cNvPr id="13" name="TextBox 12"/>
          <p:cNvSpPr txBox="1"/>
          <p:nvPr/>
        </p:nvSpPr>
        <p:spPr>
          <a:xfrm>
            <a:off x="6812279" y="1847088"/>
            <a:ext cx="4922215" cy="1143000"/>
          </a:xfrm>
          <a:prstGeom prst="rect">
            <a:avLst/>
          </a:prstGeom>
          <a:noFill/>
        </p:spPr>
        <p:txBody>
          <a:bodyPr wrap="square" anchor="t" lIns="45720" rIns="45720" tIns="27432" bIns="27432">
            <a:spAutoFit/>
          </a:bodyPr>
          <a:lstStyle/>
          <a:p>
            <a:pPr algn="l">
              <a:spcAft>
                <a:spcPts val="500"/>
              </a:spcAft>
            </a:pPr>
            <a:r>
              <a:rPr sz="1150" b="1">
                <a:solidFill>
                  <a:srgbClr val="FD8C3B"/>
                </a:solidFill>
                <a:latin typeface="Calibri"/>
              </a:rPr>
              <a:t>•  </a:t>
            </a:r>
            <a:r>
              <a:rPr sz="1150" b="0">
                <a:solidFill>
                  <a:srgbClr val="4D4D4D"/>
                </a:solidFill>
                <a:latin typeface="Calibri"/>
              </a:rPr>
              <a:t>Welfare u</a:t>
            </a:r>
            <a:r>
              <a:rPr sz="1150" b="0" baseline="-25000">
                <a:solidFill>
                  <a:srgbClr val="4D4D4D"/>
                </a:solidFill>
                <a:latin typeface="Calibri"/>
              </a:rPr>
              <a:t>1</a:t>
            </a:r>
            <a:r>
              <a:rPr sz="1150" b="0">
                <a:solidFill>
                  <a:srgbClr val="4D4D4D"/>
                </a:solidFill>
                <a:latin typeface="Calibri"/>
              </a:rPr>
              <a:t>+u</a:t>
            </a:r>
            <a:r>
              <a:rPr sz="1150" b="0" baseline="-25000">
                <a:solidFill>
                  <a:srgbClr val="4D4D4D"/>
                </a:solidFill>
                <a:latin typeface="Calibri"/>
              </a:rPr>
              <a:t>2</a:t>
            </a:r>
            <a:r>
              <a:rPr sz="1150" b="0">
                <a:solidFill>
                  <a:srgbClr val="4D4D4D"/>
                </a:solidFill>
                <a:latin typeface="Calibri"/>
              </a:rPr>
              <a:t> on the K = 200 cache: planner optimum, best pure NE, enforced equal budgets; r = λ</a:t>
            </a:r>
            <a:r>
              <a:rPr sz="1150" b="0" baseline="-25000">
                <a:solidFill>
                  <a:srgbClr val="4D4D4D"/>
                </a:solidFill>
                <a:latin typeface="Calibri"/>
              </a:rPr>
              <a:t>2</a:t>
            </a:r>
            <a:r>
              <a:rPr sz="1150" b="0">
                <a:solidFill>
                  <a:srgbClr val="4D4D4D"/>
                </a:solidFill>
                <a:latin typeface="Calibri"/>
              </a:rPr>
              <a:t>/λ</a:t>
            </a:r>
            <a:r>
              <a:rPr sz="1150" b="0" baseline="-25000">
                <a:solidFill>
                  <a:srgbClr val="4D4D4D"/>
                </a:solidFill>
                <a:latin typeface="Calibri"/>
              </a:rPr>
              <a:t>1</a:t>
            </a:r>
            <a:r>
              <a:rPr sz="1150" b="0">
                <a:solidFill>
                  <a:srgbClr val="4D4D4D"/>
                </a:solidFill>
                <a:latin typeface="Calibri"/>
              </a:rPr>
              <a:t> ∈ {1, 2, 4, 8}.</a:t>
            </a:r>
          </a:p>
        </p:txBody>
      </p:sp>
      <p:sp>
        <p:nvSpPr>
          <p:cNvPr id="14" name="TextBox 13"/>
          <p:cNvSpPr txBox="1"/>
          <p:nvPr/>
        </p:nvSpPr>
        <p:spPr>
          <a:xfrm>
            <a:off x="6812279" y="3017520"/>
            <a:ext cx="492221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WHAT WE FOUND</a:t>
            </a:r>
          </a:p>
        </p:txBody>
      </p:sp>
      <p:sp>
        <p:nvSpPr>
          <p:cNvPr id="15" name="TextBox 14"/>
          <p:cNvSpPr txBox="1"/>
          <p:nvPr/>
        </p:nvSpPr>
        <p:spPr>
          <a:xfrm>
            <a:off x="6812279" y="3291839"/>
            <a:ext cx="4922215" cy="1508760"/>
          </a:xfrm>
          <a:prstGeom prst="rect">
            <a:avLst/>
          </a:prstGeom>
          <a:noFill/>
        </p:spPr>
        <p:txBody>
          <a:bodyPr wrap="square" anchor="t" lIns="45720" rIns="45720" tIns="27432" bIns="27432">
            <a:spAutoFit/>
          </a:bodyPr>
          <a:lstStyle/>
          <a:p>
            <a:pPr algn="l">
              <a:spcAft>
                <a:spcPts val="500"/>
              </a:spcAft>
            </a:pPr>
            <a:r>
              <a:rPr sz="1250" b="1">
                <a:solidFill>
                  <a:srgbClr val="FD8C3B"/>
                </a:solidFill>
                <a:latin typeface="Calibri"/>
              </a:rPr>
              <a:t>•  </a:t>
            </a:r>
            <a:r>
              <a:rPr sz="1250" b="0">
                <a:solidFill>
                  <a:srgbClr val="4D4D4D"/>
                </a:solidFill>
                <a:latin typeface="Calibri"/>
              </a:rPr>
              <a:t>The planner optimum is </a:t>
            </a:r>
            <a:r>
              <a:rPr sz="1250" b="1">
                <a:solidFill>
                  <a:srgbClr val="08306B"/>
                </a:solidFill>
                <a:latin typeface="Calibri"/>
              </a:rPr>
              <a:t>itself asymmetric</a:t>
            </a:r>
            <a:r>
              <a:rPr sz="1250" b="0">
                <a:solidFill>
                  <a:srgbClr val="4D4D4D"/>
                </a:solidFill>
                <a:latin typeface="Calibri"/>
              </a:rPr>
              <a:t> (3.35, 24.13): composed exposure is concave in the rate.</a:t>
            </a:r>
          </a:p>
          <a:p>
            <a:pPr algn="l">
              <a:spcAft>
                <a:spcPts val="500"/>
              </a:spcAft>
            </a:pPr>
            <a:r>
              <a:rPr sz="1250" b="1">
                <a:solidFill>
                  <a:srgbClr val="FD8C3B"/>
                </a:solidFill>
                <a:latin typeface="Calibri"/>
              </a:rPr>
              <a:t>•  </a:t>
            </a:r>
            <a:r>
              <a:rPr sz="1250" b="0">
                <a:solidFill>
                  <a:srgbClr val="4D4D4D"/>
                </a:solidFill>
                <a:latin typeface="Calibri"/>
              </a:rPr>
              <a:t>Best NE sits ~9% below the planner at every r.</a:t>
            </a:r>
          </a:p>
          <a:p>
            <a:pPr algn="l">
              <a:spcAft>
                <a:spcPts val="500"/>
              </a:spcAft>
            </a:pPr>
            <a:r>
              <a:rPr sz="1250" b="1">
                <a:solidFill>
                  <a:srgbClr val="FD8C3B"/>
                </a:solidFill>
                <a:latin typeface="Calibri"/>
              </a:rPr>
              <a:t>•  </a:t>
            </a:r>
            <a:r>
              <a:rPr sz="1250" b="0">
                <a:solidFill>
                  <a:srgbClr val="4D4D4D"/>
                </a:solidFill>
                <a:latin typeface="Calibri"/>
              </a:rPr>
              <a:t>Enforced equal budgets: 6% below the planner at r = 1, </a:t>
            </a:r>
            <a:r>
              <a:rPr sz="1250" b="1">
                <a:solidFill>
                  <a:srgbClr val="08306B"/>
                </a:solidFill>
                <a:latin typeface="Calibri"/>
              </a:rPr>
              <a:t>below zero</a:t>
            </a:r>
            <a:r>
              <a:rPr sz="1250" b="0">
                <a:solidFill>
                  <a:srgbClr val="4D4D4D"/>
                </a:solidFill>
                <a:latin typeface="Calibri"/>
              </a:rPr>
              <a:t> at r = 8.</a:t>
            </a:r>
          </a:p>
        </p:txBody>
      </p:sp>
      <p:sp>
        <p:nvSpPr>
          <p:cNvPr id="16" name="TextBox 15"/>
          <p:cNvSpPr txBox="1"/>
          <p:nvPr/>
        </p:nvSpPr>
        <p:spPr>
          <a:xfrm>
            <a:off x="6812279" y="4846320"/>
            <a:ext cx="492221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HOW MUCH TO TRUST IT</a:t>
            </a:r>
          </a:p>
        </p:txBody>
      </p:sp>
      <p:sp>
        <p:nvSpPr>
          <p:cNvPr id="17" name="Rounded Rectangle 16"/>
          <p:cNvSpPr/>
          <p:nvPr/>
        </p:nvSpPr>
        <p:spPr>
          <a:xfrm>
            <a:off x="6812279" y="5138928"/>
            <a:ext cx="1600200" cy="274320"/>
          </a:xfrm>
          <a:prstGeom prst="roundRect">
            <a:avLst>
              <a:gd name="adj" fmla="val 50000"/>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a:solidFill>
                  <a:srgbClr val="FFFFFF"/>
                </a:solidFill>
                <a:latin typeface="Calibri"/>
              </a:rPr>
              <a:t>B · solid numerics</a:t>
            </a:r>
          </a:p>
        </p:txBody>
      </p:sp>
      <p:sp>
        <p:nvSpPr>
          <p:cNvPr id="18" name="TextBox 17"/>
          <p:cNvSpPr txBox="1"/>
          <p:nvPr/>
        </p:nvSpPr>
        <p:spPr>
          <a:xfrm>
            <a:off x="6812279" y="5468112"/>
            <a:ext cx="4922215" cy="868680"/>
          </a:xfrm>
          <a:prstGeom prst="rect">
            <a:avLst/>
          </a:prstGeom>
          <a:noFill/>
        </p:spPr>
        <p:txBody>
          <a:bodyPr wrap="square" anchor="t" lIns="45720" rIns="45720" tIns="27432" bIns="27432">
            <a:spAutoFit/>
          </a:bodyPr>
          <a:lstStyle/>
          <a:p>
            <a:pPr algn="l">
              <a:spcAft>
                <a:spcPts val="300"/>
              </a:spcAft>
            </a:pPr>
            <a:r>
              <a:rPr sz="1100" b="1">
                <a:solidFill>
                  <a:srgbClr val="FD8C3B"/>
                </a:solidFill>
                <a:latin typeface="Calibri"/>
              </a:rPr>
              <a:t>•  </a:t>
            </a:r>
            <a:r>
              <a:rPr sz="1100" b="0">
                <a:solidFill>
                  <a:srgbClr val="4D4D4D"/>
                </a:solidFill>
                <a:latin typeface="Calibri"/>
              </a:rPr>
              <a:t>Cache-only computations on the post-fix grid; NE welfare is grid-resolved. No equilibrium transfers utility to the carrier, so fairness needs a transfer.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320040"/>
          </a:xfrm>
          <a:prstGeom prst="rect">
            <a:avLst/>
          </a:prstGeom>
          <a:noFill/>
        </p:spPr>
        <p:txBody>
          <a:bodyPr wrap="square" anchor="t" lIns="45720" rIns="45720" tIns="27432" bIns="27432">
            <a:spAutoFit/>
          </a:bodyPr>
          <a:lstStyle/>
          <a:p>
            <a:pPr algn="l">
              <a:spcAft>
                <a:spcPts val="500"/>
              </a:spcAft>
            </a:pPr>
            <a:r>
              <a:rPr sz="1200" b="1">
                <a:solidFill>
                  <a:srgbClr val="FD8C3B"/>
                </a:solidFill>
                <a:latin typeface="Calibri"/>
              </a:rPr>
              <a:t>FINDING 10 · MANY PLAYERS</a:t>
            </a:r>
          </a:p>
        </p:txBody>
      </p:sp>
      <p:sp>
        <p:nvSpPr>
          <p:cNvPr id="3" name="TextBox 2"/>
          <p:cNvSpPr txBox="1"/>
          <p:nvPr/>
        </p:nvSpPr>
        <p:spPr>
          <a:xfrm>
            <a:off x="502920" y="566928"/>
            <a:ext cx="11247120" cy="868680"/>
          </a:xfrm>
          <a:prstGeom prst="rect">
            <a:avLst/>
          </a:prstGeom>
          <a:noFill/>
        </p:spPr>
        <p:txBody>
          <a:bodyPr wrap="square" anchor="t" lIns="45720" rIns="45720" tIns="27432" bIns="27432">
            <a:spAutoFit/>
          </a:bodyPr>
          <a:lstStyle/>
          <a:p>
            <a:pPr algn="l">
              <a:spcAft>
                <a:spcPts val="500"/>
              </a:spcAft>
            </a:pPr>
            <a:r>
              <a:rPr sz="2600" b="1">
                <a:solidFill>
                  <a:srgbClr val="08306B"/>
                </a:solidFill>
                <a:latin typeface="Calibri"/>
              </a:rPr>
              <a:t>In a 20-silo consortium, everyone free-rides at the strictest budget</a:t>
            </a:r>
          </a:p>
        </p:txBody>
      </p:sp>
      <p:cxnSp>
        <p:nvCxnSpPr>
          <p:cNvPr id="4" name="Connector 3"/>
          <p:cNvCxnSpPr/>
          <p:nvPr/>
        </p:nvCxnSpPr>
        <p:spPr>
          <a:xfrm>
            <a:off x="548640" y="1417320"/>
            <a:ext cx="11091672" cy="0"/>
          </a:xfrm>
          <a:prstGeom prst="line">
            <a:avLst/>
          </a:prstGeom>
          <a:ln w="12700">
            <a:solidFill>
              <a:srgbClr val="D0D6D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46520"/>
            <a:ext cx="7315200" cy="274320"/>
          </a:xfrm>
          <a:prstGeom prst="rect">
            <a:avLst/>
          </a:prstGeom>
          <a:noFill/>
        </p:spPr>
        <p:txBody>
          <a:bodyPr wrap="square" anchor="t" lIns="45720" rIns="45720" tIns="27432" bIns="27432">
            <a:spAutoFit/>
          </a:bodyPr>
          <a:lstStyle/>
          <a:p>
            <a:pPr algn="l">
              <a:spcAft>
                <a:spcPts val="500"/>
              </a:spcAft>
            </a:pPr>
            <a:r>
              <a:rPr sz="900" b="0">
                <a:solidFill>
                  <a:srgbClr val="8A8A8A"/>
                </a:solidFill>
                <a:latin typeface="Calibri"/>
              </a:rPr>
              <a:t>The Privacy Externality Game · strategic budgets in sampling-based iDP</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spcAft>
                <a:spcPts val="500"/>
              </a:spcAft>
            </a:pPr>
            <a:r>
              <a:rPr sz="900" b="0">
                <a:solidFill>
                  <a:srgbClr val="8A8A8A"/>
                </a:solidFill>
                <a:latin typeface="Calibri"/>
              </a:rPr>
              <a:t>11</a:t>
            </a:r>
          </a:p>
        </p:txBody>
      </p:sp>
      <p:pic>
        <p:nvPicPr>
          <p:cNvPr id="7" name="Picture 6" descr="fig_e1_population.png"/>
          <p:cNvPicPr>
            <a:picLocks noChangeAspect="1"/>
          </p:cNvPicPr>
          <p:nvPr/>
        </p:nvPicPr>
        <p:blipFill>
          <a:blip r:embed="rId2"/>
          <a:stretch>
            <a:fillRect/>
          </a:stretch>
        </p:blipFill>
        <p:spPr>
          <a:xfrm>
            <a:off x="1109068" y="1572767"/>
            <a:ext cx="3908343" cy="3310128"/>
          </a:xfrm>
          <a:prstGeom prst="rect">
            <a:avLst/>
          </a:prstGeom>
        </p:spPr>
      </p:pic>
      <p:sp>
        <p:nvSpPr>
          <p:cNvPr id="8" name="Rectangle 7"/>
          <p:cNvSpPr/>
          <p:nvPr/>
        </p:nvSpPr>
        <p:spPr>
          <a:xfrm>
            <a:off x="502920" y="5175504"/>
            <a:ext cx="5120640" cy="1207008"/>
          </a:xfrm>
          <a:prstGeom prst="rect">
            <a:avLst/>
          </a:prstGeom>
          <a:solidFill>
            <a:srgbClr val="FF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5175504"/>
            <a:ext cx="54864" cy="1207008"/>
          </a:xfrm>
          <a:prstGeom prst="rect">
            <a:avLst/>
          </a:prstGeom>
          <a:solidFill>
            <a:srgbClr val="FD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5230368"/>
            <a:ext cx="4846320" cy="256032"/>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IN PLAIN WORDS</a:t>
            </a:r>
          </a:p>
        </p:txBody>
      </p:sp>
      <p:sp>
        <p:nvSpPr>
          <p:cNvPr id="11" name="TextBox 10"/>
          <p:cNvSpPr txBox="1"/>
          <p:nvPr/>
        </p:nvSpPr>
        <p:spPr>
          <a:xfrm>
            <a:off x="667512" y="5477256"/>
            <a:ext cx="4846320" cy="859536"/>
          </a:xfrm>
          <a:prstGeom prst="rect">
            <a:avLst/>
          </a:prstGeom>
          <a:noFill/>
        </p:spPr>
        <p:txBody>
          <a:bodyPr wrap="square" anchor="t" lIns="45720" rIns="45720" tIns="27432" bIns="27432">
            <a:spAutoFit/>
          </a:bodyPr>
          <a:lstStyle/>
          <a:p>
            <a:pPr algn="l">
              <a:spcAft>
                <a:spcPts val="500"/>
              </a:spcAft>
            </a:pPr>
            <a:r>
              <a:rPr sz="1100" b="0">
                <a:solidFill>
                  <a:srgbClr val="4D4D4D"/>
                </a:solidFill>
                <a:latin typeface="Calibri"/>
              </a:rPr>
              <a:t>With 20 groups, each one barely affects the shared noise, so no group has a reason to loosen its budget for the common good. Everyone picks the strictest option and hopes others carry the batch: classic free-riding, about 30% worse than a coordinated plan. Preliminary result.</a:t>
            </a:r>
          </a:p>
        </p:txBody>
      </p:sp>
      <p:sp>
        <p:nvSpPr>
          <p:cNvPr id="12" name="TextBox 11"/>
          <p:cNvSpPr txBox="1"/>
          <p:nvPr/>
        </p:nvSpPr>
        <p:spPr>
          <a:xfrm>
            <a:off x="5897879" y="1572768"/>
            <a:ext cx="583661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WHAT WE LOOKED AT</a:t>
            </a:r>
          </a:p>
        </p:txBody>
      </p:sp>
      <p:sp>
        <p:nvSpPr>
          <p:cNvPr id="13" name="TextBox 12"/>
          <p:cNvSpPr txBox="1"/>
          <p:nvPr/>
        </p:nvSpPr>
        <p:spPr>
          <a:xfrm>
            <a:off x="5897879" y="1847088"/>
            <a:ext cx="5836615" cy="1143000"/>
          </a:xfrm>
          <a:prstGeom prst="rect">
            <a:avLst/>
          </a:prstGeom>
          <a:noFill/>
        </p:spPr>
        <p:txBody>
          <a:bodyPr wrap="square" anchor="t" lIns="45720" rIns="45720" tIns="27432" bIns="27432">
            <a:spAutoFit/>
          </a:bodyPr>
          <a:lstStyle/>
          <a:p>
            <a:pPr algn="l">
              <a:spcAft>
                <a:spcPts val="500"/>
              </a:spcAft>
            </a:pPr>
            <a:r>
              <a:rPr sz="1150" b="1">
                <a:solidFill>
                  <a:srgbClr val="FD8C3B"/>
                </a:solidFill>
                <a:latin typeface="Calibri"/>
              </a:rPr>
              <a:t>•  </a:t>
            </a:r>
            <a:r>
              <a:rPr sz="1150" b="0">
                <a:solidFill>
                  <a:srgbClr val="4D4D4D"/>
                </a:solidFill>
                <a:latin typeface="Calibri"/>
              </a:rPr>
              <a:t>100 sampled FL consortia: n = 20, |G</a:t>
            </a:r>
            <a:r>
              <a:rPr sz="1150" b="0" baseline="-25000">
                <a:solidFill>
                  <a:srgbClr val="4D4D4D"/>
                </a:solidFill>
                <a:latin typeface="Calibri"/>
              </a:rPr>
              <a:t>i</a:t>
            </a:r>
            <a:r>
              <a:rPr sz="1150" b="0">
                <a:solidFill>
                  <a:srgbClr val="4D4D4D"/>
                </a:solidFill>
                <a:latin typeface="Calibri"/>
              </a:rPr>
              <a:t>| ~ U{2000…12000}, λ</a:t>
            </a:r>
            <a:r>
              <a:rPr sz="1150" b="0" baseline="-25000">
                <a:solidFill>
                  <a:srgbClr val="4D4D4D"/>
                </a:solidFill>
                <a:latin typeface="Calibri"/>
              </a:rPr>
              <a:t>i</a:t>
            </a:r>
            <a:r>
              <a:rPr sz="1150" b="0">
                <a:solidFill>
                  <a:srgbClr val="4D4D4D"/>
                </a:solidFill>
                <a:latin typeface="Calibri"/>
              </a:rPr>
              <a:t> ~ LogNormal(0, 0.7), B = 256, actions {10, …, 50}; sequential BR.</a:t>
            </a:r>
          </a:p>
        </p:txBody>
      </p:sp>
      <p:sp>
        <p:nvSpPr>
          <p:cNvPr id="14" name="TextBox 13"/>
          <p:cNvSpPr txBox="1"/>
          <p:nvPr/>
        </p:nvSpPr>
        <p:spPr>
          <a:xfrm>
            <a:off x="5897879" y="3017520"/>
            <a:ext cx="583661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WHAT WE FOUND</a:t>
            </a:r>
          </a:p>
        </p:txBody>
      </p:sp>
      <p:sp>
        <p:nvSpPr>
          <p:cNvPr id="15" name="TextBox 14"/>
          <p:cNvSpPr txBox="1"/>
          <p:nvPr/>
        </p:nvSpPr>
        <p:spPr>
          <a:xfrm>
            <a:off x="5897879" y="3291839"/>
            <a:ext cx="5836615" cy="1508760"/>
          </a:xfrm>
          <a:prstGeom prst="rect">
            <a:avLst/>
          </a:prstGeom>
          <a:noFill/>
        </p:spPr>
        <p:txBody>
          <a:bodyPr wrap="square" anchor="t" lIns="45720" rIns="45720" tIns="27432" bIns="27432">
            <a:spAutoFit/>
          </a:bodyPr>
          <a:lstStyle/>
          <a:p>
            <a:pPr algn="l">
              <a:spcAft>
                <a:spcPts val="500"/>
              </a:spcAft>
            </a:pPr>
            <a:r>
              <a:rPr sz="1250" b="1">
                <a:solidFill>
                  <a:srgbClr val="FD8C3B"/>
                </a:solidFill>
                <a:latin typeface="Calibri"/>
              </a:rPr>
              <a:t>•  </a:t>
            </a:r>
            <a:r>
              <a:rPr sz="1250" b="1">
                <a:solidFill>
                  <a:srgbClr val="08306B"/>
                </a:solidFill>
                <a:latin typeface="Calibri"/>
              </a:rPr>
              <a:t>100/100</a:t>
            </a:r>
            <a:r>
              <a:rPr sz="1250" b="0">
                <a:solidFill>
                  <a:srgbClr val="4D4D4D"/>
                </a:solidFill>
                <a:latin typeface="Calibri"/>
              </a:rPr>
              <a:t> converge to the uniform floor (10, …, 10).</a:t>
            </a:r>
          </a:p>
          <a:p>
            <a:pPr algn="l">
              <a:spcAft>
                <a:spcPts val="500"/>
              </a:spcAft>
            </a:pPr>
            <a:r>
              <a:rPr sz="1250" b="1">
                <a:solidFill>
                  <a:srgbClr val="FD8C3B"/>
                </a:solidFill>
                <a:latin typeface="Calibri"/>
              </a:rPr>
              <a:t>•  </a:t>
            </a:r>
            <a:r>
              <a:rPr sz="1250" b="0">
                <a:solidFill>
                  <a:srgbClr val="4D4D4D"/>
                </a:solidFill>
                <a:latin typeface="Calibri"/>
              </a:rPr>
              <a:t>One silo moves σ by ~1/20, so the free-riding threshold is λ* ≈ 0.02–0.04.</a:t>
            </a:r>
          </a:p>
          <a:p>
            <a:pPr algn="l">
              <a:spcAft>
                <a:spcPts val="500"/>
              </a:spcAft>
            </a:pPr>
            <a:r>
              <a:rPr sz="1250" b="1">
                <a:solidFill>
                  <a:srgbClr val="FD8C3B"/>
                </a:solidFill>
                <a:latin typeface="Calibri"/>
              </a:rPr>
              <a:t>•  </a:t>
            </a:r>
            <a:r>
              <a:rPr sz="1250" b="0">
                <a:solidFill>
                  <a:srgbClr val="4D4D4D"/>
                </a:solidFill>
                <a:latin typeface="Calibri"/>
              </a:rPr>
              <a:t>Welfare </a:t>
            </a:r>
            <a:r>
              <a:rPr sz="1250" b="1">
                <a:solidFill>
                  <a:srgbClr val="08306B"/>
                </a:solidFill>
                <a:latin typeface="Calibri"/>
              </a:rPr>
              <a:t>31%</a:t>
            </a:r>
            <a:r>
              <a:rPr sz="1250" b="0">
                <a:solidFill>
                  <a:srgbClr val="4D4D4D"/>
                </a:solidFill>
                <a:latin typeface="Calibri"/>
              </a:rPr>
              <a:t> below a sorted planner (planner Gini 0.58).</a:t>
            </a:r>
          </a:p>
        </p:txBody>
      </p:sp>
      <p:sp>
        <p:nvSpPr>
          <p:cNvPr id="16" name="TextBox 15"/>
          <p:cNvSpPr txBox="1"/>
          <p:nvPr/>
        </p:nvSpPr>
        <p:spPr>
          <a:xfrm>
            <a:off x="5897879" y="4846320"/>
            <a:ext cx="583661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HOW MUCH TO TRUST IT</a:t>
            </a:r>
          </a:p>
        </p:txBody>
      </p:sp>
      <p:sp>
        <p:nvSpPr>
          <p:cNvPr id="17" name="Rounded Rectangle 16"/>
          <p:cNvSpPr/>
          <p:nvPr/>
        </p:nvSpPr>
        <p:spPr>
          <a:xfrm>
            <a:off x="5897879" y="5138928"/>
            <a:ext cx="1600200" cy="274320"/>
          </a:xfrm>
          <a:prstGeom prst="roundRect">
            <a:avLst>
              <a:gd name="adj" fmla="val 50000"/>
            </a:avLst>
          </a:prstGeom>
          <a:solidFill>
            <a:srgbClr val="E68A0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a:solidFill>
                  <a:srgbClr val="FFFFFF"/>
                </a:solidFill>
                <a:latin typeface="Calibri"/>
              </a:rPr>
              <a:t>C · provisional</a:t>
            </a:r>
          </a:p>
        </p:txBody>
      </p:sp>
      <p:sp>
        <p:nvSpPr>
          <p:cNvPr id="18" name="TextBox 17"/>
          <p:cNvSpPr txBox="1"/>
          <p:nvPr/>
        </p:nvSpPr>
        <p:spPr>
          <a:xfrm>
            <a:off x="5897879" y="5468112"/>
            <a:ext cx="5836615" cy="868680"/>
          </a:xfrm>
          <a:prstGeom prst="rect">
            <a:avLst/>
          </a:prstGeom>
          <a:noFill/>
        </p:spPr>
        <p:txBody>
          <a:bodyPr wrap="square" anchor="t" lIns="45720" rIns="45720" tIns="27432" bIns="27432">
            <a:spAutoFit/>
          </a:bodyPr>
          <a:lstStyle/>
          <a:p>
            <a:pPr algn="l">
              <a:spcAft>
                <a:spcPts val="300"/>
              </a:spcAft>
            </a:pPr>
            <a:r>
              <a:rPr sz="1100" b="1">
                <a:solidFill>
                  <a:srgbClr val="FD8C3B"/>
                </a:solidFill>
                <a:latin typeface="Calibri"/>
              </a:rPr>
              <a:t>•  </a:t>
            </a:r>
            <a:r>
              <a:rPr sz="1100" b="0">
                <a:solidFill>
                  <a:srgbClr val="4D4D4D"/>
                </a:solidFill>
                <a:latin typeface="Calibri"/>
              </a:rPr>
              <a:t>Pre-solver-fix run, approximate planner, 6-point grid. The run at the critical weight scale was never analysed.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320040"/>
          </a:xfrm>
          <a:prstGeom prst="rect">
            <a:avLst/>
          </a:prstGeom>
          <a:noFill/>
        </p:spPr>
        <p:txBody>
          <a:bodyPr wrap="square" anchor="t" lIns="45720" rIns="45720" tIns="27432" bIns="27432">
            <a:spAutoFit/>
          </a:bodyPr>
          <a:lstStyle/>
          <a:p>
            <a:pPr algn="l">
              <a:spcAft>
                <a:spcPts val="500"/>
              </a:spcAft>
            </a:pPr>
            <a:r>
              <a:rPr sz="1200" b="1">
                <a:solidFill>
                  <a:srgbClr val="FD8C3B"/>
                </a:solidFill>
                <a:latin typeface="Calibri"/>
              </a:rPr>
              <a:t>FINDING 11 · ATTACKS</a:t>
            </a:r>
          </a:p>
        </p:txBody>
      </p:sp>
      <p:sp>
        <p:nvSpPr>
          <p:cNvPr id="3" name="TextBox 2"/>
          <p:cNvSpPr txBox="1"/>
          <p:nvPr/>
        </p:nvSpPr>
        <p:spPr>
          <a:xfrm>
            <a:off x="502920" y="566928"/>
            <a:ext cx="11247120" cy="868680"/>
          </a:xfrm>
          <a:prstGeom prst="rect">
            <a:avLst/>
          </a:prstGeom>
          <a:noFill/>
        </p:spPr>
        <p:txBody>
          <a:bodyPr wrap="square" anchor="t" lIns="45720" rIns="45720" tIns="27432" bIns="27432">
            <a:spAutoFit/>
          </a:bodyPr>
          <a:lstStyle/>
          <a:p>
            <a:pPr algn="l">
              <a:spcAft>
                <a:spcPts val="500"/>
              </a:spcAft>
            </a:pPr>
            <a:r>
              <a:rPr sz="2600" b="1">
                <a:solidFill>
                  <a:srgbClr val="08306B"/>
                </a:solidFill>
                <a:latin typeface="Calibri"/>
              </a:rPr>
              <a:t>The attack is coalition play, and fails against an aware target</a:t>
            </a:r>
          </a:p>
        </p:txBody>
      </p:sp>
      <p:cxnSp>
        <p:nvCxnSpPr>
          <p:cNvPr id="4" name="Connector 3"/>
          <p:cNvCxnSpPr/>
          <p:nvPr/>
        </p:nvCxnSpPr>
        <p:spPr>
          <a:xfrm>
            <a:off x="548640" y="1417320"/>
            <a:ext cx="11091672" cy="0"/>
          </a:xfrm>
          <a:prstGeom prst="line">
            <a:avLst/>
          </a:prstGeom>
          <a:ln w="12700">
            <a:solidFill>
              <a:srgbClr val="D0D6D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46520"/>
            <a:ext cx="7315200" cy="274320"/>
          </a:xfrm>
          <a:prstGeom prst="rect">
            <a:avLst/>
          </a:prstGeom>
          <a:noFill/>
        </p:spPr>
        <p:txBody>
          <a:bodyPr wrap="square" anchor="t" lIns="45720" rIns="45720" tIns="27432" bIns="27432">
            <a:spAutoFit/>
          </a:bodyPr>
          <a:lstStyle/>
          <a:p>
            <a:pPr algn="l">
              <a:spcAft>
                <a:spcPts val="500"/>
              </a:spcAft>
            </a:pPr>
            <a:r>
              <a:rPr sz="900" b="0">
                <a:solidFill>
                  <a:srgbClr val="8A8A8A"/>
                </a:solidFill>
                <a:latin typeface="Calibri"/>
              </a:rPr>
              <a:t>The Privacy Externality Game · strategic budgets in sampling-based iDP</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spcAft>
                <a:spcPts val="500"/>
              </a:spcAft>
            </a:pPr>
            <a:r>
              <a:rPr sz="900" b="0">
                <a:solidFill>
                  <a:srgbClr val="8A8A8A"/>
                </a:solidFill>
                <a:latin typeface="Calibri"/>
              </a:rPr>
              <a:t>12</a:t>
            </a:r>
          </a:p>
        </p:txBody>
      </p:sp>
      <p:pic>
        <p:nvPicPr>
          <p:cNvPr id="7" name="Picture 6" descr="fig_h4_aware_target.png"/>
          <p:cNvPicPr>
            <a:picLocks noChangeAspect="1"/>
          </p:cNvPicPr>
          <p:nvPr/>
        </p:nvPicPr>
        <p:blipFill>
          <a:blip r:embed="rId2"/>
          <a:stretch>
            <a:fillRect/>
          </a:stretch>
        </p:blipFill>
        <p:spPr>
          <a:xfrm>
            <a:off x="1085226" y="1572768"/>
            <a:ext cx="4504666" cy="3310128"/>
          </a:xfrm>
          <a:prstGeom prst="rect">
            <a:avLst/>
          </a:prstGeom>
        </p:spPr>
      </p:pic>
      <p:sp>
        <p:nvSpPr>
          <p:cNvPr id="8" name="TextBox 7"/>
          <p:cNvSpPr txBox="1"/>
          <p:nvPr/>
        </p:nvSpPr>
        <p:spPr>
          <a:xfrm>
            <a:off x="502920" y="4882896"/>
            <a:ext cx="5669280" cy="457200"/>
          </a:xfrm>
          <a:prstGeom prst="rect">
            <a:avLst/>
          </a:prstGeom>
          <a:noFill/>
        </p:spPr>
        <p:txBody>
          <a:bodyPr wrap="square" anchor="t" lIns="45720" rIns="45720" tIns="27432" bIns="27432">
            <a:spAutoFit/>
          </a:bodyPr>
          <a:lstStyle/>
          <a:p>
            <a:pPr algn="l">
              <a:spcAft>
                <a:spcPts val="500"/>
              </a:spcAft>
            </a:pPr>
            <a:r>
              <a:rPr sz="1000" b="0">
                <a:solidFill>
                  <a:srgbClr val="6A6A6A"/>
                </a:solidFill>
                <a:latin typeface="Calibri"/>
              </a:rPr>
              <a:t>Hollow marker: interior optimum at k = 4 (filled: poisoning corner, ε</a:t>
            </a:r>
            <a:r>
              <a:rPr sz="1000" b="0" baseline="-25000">
                <a:solidFill>
                  <a:srgbClr val="6A6A6A"/>
                </a:solidFill>
                <a:latin typeface="Calibri"/>
              </a:rPr>
              <a:t>C</a:t>
            </a:r>
            <a:r>
              <a:rPr sz="1000" b="0">
                <a:solidFill>
                  <a:srgbClr val="6A6A6A"/>
                </a:solidFill>
                <a:latin typeface="Calibri"/>
              </a:rPr>
              <a:t> = 0.5).</a:t>
            </a:r>
          </a:p>
        </p:txBody>
      </p:sp>
      <p:sp>
        <p:nvSpPr>
          <p:cNvPr id="9" name="Rectangle 8"/>
          <p:cNvSpPr/>
          <p:nvPr/>
        </p:nvSpPr>
        <p:spPr>
          <a:xfrm>
            <a:off x="502920" y="5175504"/>
            <a:ext cx="5669280" cy="1207008"/>
          </a:xfrm>
          <a:prstGeom prst="rect">
            <a:avLst/>
          </a:prstGeom>
          <a:solidFill>
            <a:srgbClr val="FF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175504"/>
            <a:ext cx="54864" cy="1207008"/>
          </a:xfrm>
          <a:prstGeom prst="rect">
            <a:avLst/>
          </a:prstGeom>
          <a:solidFill>
            <a:srgbClr val="FD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5230368"/>
            <a:ext cx="5394960" cy="256032"/>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IN PLAIN WORDS</a:t>
            </a:r>
          </a:p>
        </p:txBody>
      </p:sp>
      <p:sp>
        <p:nvSpPr>
          <p:cNvPr id="12" name="TextBox 11"/>
          <p:cNvSpPr txBox="1"/>
          <p:nvPr/>
        </p:nvSpPr>
        <p:spPr>
          <a:xfrm>
            <a:off x="667512" y="5477256"/>
            <a:ext cx="5394960" cy="859536"/>
          </a:xfrm>
          <a:prstGeom prst="rect">
            <a:avLst/>
          </a:prstGeom>
          <a:noFill/>
        </p:spPr>
        <p:txBody>
          <a:bodyPr wrap="square" anchor="t" lIns="45720" rIns="45720" tIns="27432" bIns="27432">
            <a:spAutoFit/>
          </a:bodyPr>
          <a:lstStyle/>
          <a:p>
            <a:pPr algn="l">
              <a:spcAft>
                <a:spcPts val="500"/>
              </a:spcAft>
            </a:pPr>
            <a:r>
              <a:rPr sz="1100" b="0">
                <a:solidFill>
                  <a:srgbClr val="4D4D4D"/>
                </a:solidFill>
                <a:latin typeface="Calibri"/>
              </a:rPr>
              <a:t>In the known attack, some groups pick strict budgets on purpose to push a target into more exposure. In our model that is simply what colluding players would do. But it only works on a target that stays put; a target that reacts by tightening its own budget escapes almost entirely.</a:t>
            </a:r>
          </a:p>
        </p:txBody>
      </p:sp>
      <p:sp>
        <p:nvSpPr>
          <p:cNvPr id="13" name="TextBox 12"/>
          <p:cNvSpPr txBox="1"/>
          <p:nvPr/>
        </p:nvSpPr>
        <p:spPr>
          <a:xfrm>
            <a:off x="6446520" y="1572768"/>
            <a:ext cx="528797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WHAT WE LOOKED AT</a:t>
            </a:r>
          </a:p>
        </p:txBody>
      </p:sp>
      <p:sp>
        <p:nvSpPr>
          <p:cNvPr id="14" name="TextBox 13"/>
          <p:cNvSpPr txBox="1"/>
          <p:nvPr/>
        </p:nvSpPr>
        <p:spPr>
          <a:xfrm>
            <a:off x="6446520" y="1847088"/>
            <a:ext cx="5287975" cy="1143000"/>
          </a:xfrm>
          <a:prstGeom prst="rect">
            <a:avLst/>
          </a:prstGeom>
          <a:noFill/>
        </p:spPr>
        <p:txBody>
          <a:bodyPr wrap="square" anchor="t" lIns="45720" rIns="45720" tIns="27432" bIns="27432">
            <a:spAutoFit/>
          </a:bodyPr>
          <a:lstStyle/>
          <a:p>
            <a:pPr algn="l">
              <a:spcAft>
                <a:spcPts val="500"/>
              </a:spcAft>
            </a:pPr>
            <a:r>
              <a:rPr sz="1150" b="1">
                <a:solidFill>
                  <a:srgbClr val="FD8C3B"/>
                </a:solidFill>
                <a:latin typeface="Calibri"/>
              </a:rPr>
              <a:t>•  </a:t>
            </a:r>
            <a:r>
              <a:rPr sz="1150" b="0">
                <a:solidFill>
                  <a:srgbClr val="4D4D4D"/>
                </a:solidFill>
                <a:latin typeface="Calibri"/>
              </a:rPr>
              <a:t>n = 5, others at ε = 32; a k-coalition commits to one budget maximising A</a:t>
            </a:r>
            <a:r>
              <a:rPr sz="1150" b="0" baseline="-25000">
                <a:solidFill>
                  <a:srgbClr val="4D4D4D"/>
                </a:solidFill>
                <a:latin typeface="Calibri"/>
              </a:rPr>
              <a:t>PLD,t</a:t>
            </a:r>
            <a:r>
              <a:rPr sz="1150" b="0">
                <a:solidFill>
                  <a:srgbClr val="4D4D4D"/>
                </a:solidFill>
                <a:latin typeface="Calibri"/>
              </a:rPr>
              <a:t> (κ → ∞); target passive or best-responding (14-point grids).</a:t>
            </a:r>
          </a:p>
        </p:txBody>
      </p:sp>
      <p:sp>
        <p:nvSpPr>
          <p:cNvPr id="15" name="TextBox 14"/>
          <p:cNvSpPr txBox="1"/>
          <p:nvPr/>
        </p:nvSpPr>
        <p:spPr>
          <a:xfrm>
            <a:off x="6446520" y="3017520"/>
            <a:ext cx="528797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WHAT WE FOUND</a:t>
            </a:r>
          </a:p>
        </p:txBody>
      </p:sp>
      <p:sp>
        <p:nvSpPr>
          <p:cNvPr id="16" name="TextBox 15"/>
          <p:cNvSpPr txBox="1"/>
          <p:nvPr/>
        </p:nvSpPr>
        <p:spPr>
          <a:xfrm>
            <a:off x="6446520" y="3291839"/>
            <a:ext cx="5287975" cy="1508760"/>
          </a:xfrm>
          <a:prstGeom prst="rect">
            <a:avLst/>
          </a:prstGeom>
          <a:noFill/>
        </p:spPr>
        <p:txBody>
          <a:bodyPr wrap="square" anchor="t" lIns="45720" rIns="45720" tIns="27432" bIns="27432">
            <a:spAutoFit/>
          </a:bodyPr>
          <a:lstStyle/>
          <a:p>
            <a:pPr algn="l">
              <a:spcAft>
                <a:spcPts val="500"/>
              </a:spcAft>
            </a:pPr>
            <a:r>
              <a:rPr sz="1250" b="1">
                <a:solidFill>
                  <a:srgbClr val="FD8C3B"/>
                </a:solidFill>
                <a:latin typeface="Calibri"/>
              </a:rPr>
              <a:t>•  </a:t>
            </a:r>
            <a:r>
              <a:rPr sz="1250" b="0">
                <a:solidFill>
                  <a:srgbClr val="4D4D4D"/>
                </a:solidFill>
                <a:latin typeface="Calibri"/>
              </a:rPr>
              <a:t>Passive: A</a:t>
            </a:r>
            <a:r>
              <a:rPr sz="1250" b="0" baseline="-25000">
                <a:solidFill>
                  <a:srgbClr val="4D4D4D"/>
                </a:solidFill>
                <a:latin typeface="Calibri"/>
              </a:rPr>
              <a:t>PLD,t</a:t>
            </a:r>
            <a:r>
              <a:rPr sz="1250" b="0">
                <a:solidFill>
                  <a:srgbClr val="4D4D4D"/>
                </a:solidFill>
                <a:latin typeface="Calibri"/>
              </a:rPr>
              <a:t> 0.44 → </a:t>
            </a:r>
            <a:r>
              <a:rPr sz="1250" b="1">
                <a:solidFill>
                  <a:srgbClr val="08306B"/>
                </a:solidFill>
                <a:latin typeface="Calibri"/>
              </a:rPr>
              <a:t>0.73</a:t>
            </a:r>
            <a:r>
              <a:rPr sz="1250" b="0">
                <a:solidFill>
                  <a:srgbClr val="4D4D4D"/>
                </a:solidFill>
                <a:latin typeface="Calibri"/>
              </a:rPr>
              <a:t> at k = 4; the coalition plays the participation-preserving minimum, as predicted.</a:t>
            </a:r>
          </a:p>
          <a:p>
            <a:pPr algn="l">
              <a:spcAft>
                <a:spcPts val="500"/>
              </a:spcAft>
            </a:pPr>
            <a:r>
              <a:rPr sz="1250" b="1">
                <a:solidFill>
                  <a:srgbClr val="FD8C3B"/>
                </a:solidFill>
                <a:latin typeface="Calibri"/>
              </a:rPr>
              <a:t>•  </a:t>
            </a:r>
            <a:r>
              <a:rPr sz="1250" b="0">
                <a:solidFill>
                  <a:srgbClr val="4D4D4D"/>
                </a:solidFill>
                <a:latin typeface="Calibri"/>
              </a:rPr>
              <a:t>Aware: </a:t>
            </a:r>
            <a:r>
              <a:rPr sz="1250" b="1">
                <a:solidFill>
                  <a:srgbClr val="08306B"/>
                </a:solidFill>
                <a:latin typeface="Calibri"/>
              </a:rPr>
              <a:t>0.010–0.041</a:t>
            </a:r>
            <a:r>
              <a:rPr sz="1250" b="0">
                <a:solidFill>
                  <a:srgbClr val="4D4D4D"/>
                </a:solidFill>
                <a:latin typeface="Calibri"/>
              </a:rPr>
              <a:t>, 18–51× lower, below the no-coalition baseline.</a:t>
            </a:r>
          </a:p>
        </p:txBody>
      </p:sp>
      <p:sp>
        <p:nvSpPr>
          <p:cNvPr id="17" name="TextBox 16"/>
          <p:cNvSpPr txBox="1"/>
          <p:nvPr/>
        </p:nvSpPr>
        <p:spPr>
          <a:xfrm>
            <a:off x="6446520" y="4846320"/>
            <a:ext cx="528797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HOW MUCH TO TRUST IT</a:t>
            </a:r>
          </a:p>
        </p:txBody>
      </p:sp>
      <p:sp>
        <p:nvSpPr>
          <p:cNvPr id="18" name="Rounded Rectangle 17"/>
          <p:cNvSpPr/>
          <p:nvPr/>
        </p:nvSpPr>
        <p:spPr>
          <a:xfrm>
            <a:off x="6446520" y="5138928"/>
            <a:ext cx="1600200" cy="27432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a:solidFill>
                  <a:srgbClr val="FFFFFF"/>
                </a:solidFill>
                <a:latin typeface="Calibri"/>
              </a:rPr>
              <a:t>A · proved / exact</a:t>
            </a:r>
          </a:p>
        </p:txBody>
      </p:sp>
      <p:sp>
        <p:nvSpPr>
          <p:cNvPr id="19" name="Rounded Rectangle 18"/>
          <p:cNvSpPr/>
          <p:nvPr/>
        </p:nvSpPr>
        <p:spPr>
          <a:xfrm>
            <a:off x="8138160" y="5138928"/>
            <a:ext cx="1600200" cy="274320"/>
          </a:xfrm>
          <a:prstGeom prst="roundRect">
            <a:avLst>
              <a:gd name="adj" fmla="val 50000"/>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a:solidFill>
                  <a:srgbClr val="FFFFFF"/>
                </a:solidFill>
                <a:latin typeface="Calibri"/>
              </a:rPr>
              <a:t>B · solid numerics</a:t>
            </a:r>
          </a:p>
        </p:txBody>
      </p:sp>
      <p:sp>
        <p:nvSpPr>
          <p:cNvPr id="20" name="TextBox 19"/>
          <p:cNvSpPr txBox="1"/>
          <p:nvPr/>
        </p:nvSpPr>
        <p:spPr>
          <a:xfrm>
            <a:off x="6446520" y="5468112"/>
            <a:ext cx="5287975" cy="868680"/>
          </a:xfrm>
          <a:prstGeom prst="rect">
            <a:avLst/>
          </a:prstGeom>
          <a:noFill/>
        </p:spPr>
        <p:txBody>
          <a:bodyPr wrap="square" anchor="t" lIns="45720" rIns="45720" tIns="27432" bIns="27432">
            <a:spAutoFit/>
          </a:bodyPr>
          <a:lstStyle/>
          <a:p>
            <a:pPr algn="l">
              <a:spcAft>
                <a:spcPts val="300"/>
              </a:spcAft>
            </a:pPr>
            <a:r>
              <a:rPr sz="1100" b="1">
                <a:solidFill>
                  <a:srgbClr val="FD8C3B"/>
                </a:solidFill>
                <a:latin typeface="Calibri"/>
              </a:rPr>
              <a:t>•  </a:t>
            </a:r>
            <a:r>
              <a:rPr sz="1100" b="0">
                <a:solidFill>
                  <a:srgbClr val="4D4D4D"/>
                </a:solidFill>
                <a:latin typeface="Calibri"/>
              </a:rPr>
              <a:t>Corollary proved. Post-fix caches. Coarse 14-point action grids, so ratios are approximate.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320040"/>
          </a:xfrm>
          <a:prstGeom prst="rect">
            <a:avLst/>
          </a:prstGeom>
          <a:noFill/>
        </p:spPr>
        <p:txBody>
          <a:bodyPr wrap="square" anchor="t" lIns="45720" rIns="45720" tIns="27432" bIns="27432">
            <a:spAutoFit/>
          </a:bodyPr>
          <a:lstStyle/>
          <a:p>
            <a:pPr algn="l">
              <a:spcAft>
                <a:spcPts val="500"/>
              </a:spcAft>
            </a:pPr>
            <a:r>
              <a:rPr sz="1200" b="1">
                <a:solidFill>
                  <a:srgbClr val="FD8C3B"/>
                </a:solidFill>
                <a:latin typeface="Calibri"/>
              </a:rPr>
              <a:t>FINDING 12 · MEASURED ADVERSARY</a:t>
            </a:r>
          </a:p>
        </p:txBody>
      </p:sp>
      <p:sp>
        <p:nvSpPr>
          <p:cNvPr id="3" name="TextBox 2"/>
          <p:cNvSpPr txBox="1"/>
          <p:nvPr/>
        </p:nvSpPr>
        <p:spPr>
          <a:xfrm>
            <a:off x="502920" y="566928"/>
            <a:ext cx="11247120" cy="868680"/>
          </a:xfrm>
          <a:prstGeom prst="rect">
            <a:avLst/>
          </a:prstGeom>
          <a:noFill/>
        </p:spPr>
        <p:txBody>
          <a:bodyPr wrap="square" anchor="t" lIns="45720" rIns="45720" tIns="27432" bIns="27432">
            <a:spAutoFit/>
          </a:bodyPr>
          <a:lstStyle/>
          <a:p>
            <a:pPr algn="l">
              <a:spcAft>
                <a:spcPts val="500"/>
              </a:spcAft>
            </a:pPr>
            <a:r>
              <a:rPr sz="2600" b="1">
                <a:solidFill>
                  <a:srgbClr val="08306B"/>
                </a:solidFill>
                <a:latin typeface="Calibri"/>
              </a:rPr>
              <a:t>At the attack's noise floor, the strategic pressure vanishes</a:t>
            </a:r>
          </a:p>
        </p:txBody>
      </p:sp>
      <p:cxnSp>
        <p:nvCxnSpPr>
          <p:cNvPr id="4" name="Connector 3"/>
          <p:cNvCxnSpPr/>
          <p:nvPr/>
        </p:nvCxnSpPr>
        <p:spPr>
          <a:xfrm>
            <a:off x="548640" y="1417320"/>
            <a:ext cx="11091672" cy="0"/>
          </a:xfrm>
          <a:prstGeom prst="line">
            <a:avLst/>
          </a:prstGeom>
          <a:ln w="12700">
            <a:solidFill>
              <a:srgbClr val="D0D6D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46520"/>
            <a:ext cx="7315200" cy="274320"/>
          </a:xfrm>
          <a:prstGeom prst="rect">
            <a:avLst/>
          </a:prstGeom>
          <a:noFill/>
        </p:spPr>
        <p:txBody>
          <a:bodyPr wrap="square" anchor="t" lIns="45720" rIns="45720" tIns="27432" bIns="27432">
            <a:spAutoFit/>
          </a:bodyPr>
          <a:lstStyle/>
          <a:p>
            <a:pPr algn="l">
              <a:spcAft>
                <a:spcPts val="500"/>
              </a:spcAft>
            </a:pPr>
            <a:r>
              <a:rPr sz="900" b="0">
                <a:solidFill>
                  <a:srgbClr val="8A8A8A"/>
                </a:solidFill>
                <a:latin typeface="Calibri"/>
              </a:rPr>
              <a:t>The Privacy Externality Game · strategic budgets in sampling-based iDP</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spcAft>
                <a:spcPts val="500"/>
              </a:spcAft>
            </a:pPr>
            <a:r>
              <a:rPr sz="900" b="0">
                <a:solidFill>
                  <a:srgbClr val="8A8A8A"/>
                </a:solidFill>
                <a:latin typeface="Calibri"/>
              </a:rPr>
              <a:t>13</a:t>
            </a:r>
          </a:p>
        </p:txBody>
      </p:sp>
      <p:pic>
        <p:nvPicPr>
          <p:cNvPr id="7" name="Picture 6" descr="fig_H1_n2_measured_NE.png"/>
          <p:cNvPicPr>
            <a:picLocks noChangeAspect="1"/>
          </p:cNvPicPr>
          <p:nvPr/>
        </p:nvPicPr>
        <p:blipFill>
          <a:blip r:embed="rId2"/>
          <a:stretch>
            <a:fillRect/>
          </a:stretch>
        </p:blipFill>
        <p:spPr>
          <a:xfrm>
            <a:off x="502920" y="2055100"/>
            <a:ext cx="6949440" cy="2345463"/>
          </a:xfrm>
          <a:prstGeom prst="rect">
            <a:avLst/>
          </a:prstGeom>
        </p:spPr>
      </p:pic>
      <p:sp>
        <p:nvSpPr>
          <p:cNvPr id="8" name="Rectangle 7"/>
          <p:cNvSpPr/>
          <p:nvPr/>
        </p:nvSpPr>
        <p:spPr>
          <a:xfrm>
            <a:off x="502920" y="5175504"/>
            <a:ext cx="6949440" cy="1207008"/>
          </a:xfrm>
          <a:prstGeom prst="rect">
            <a:avLst/>
          </a:prstGeom>
          <a:solidFill>
            <a:srgbClr val="FF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5175504"/>
            <a:ext cx="54864" cy="1207008"/>
          </a:xfrm>
          <a:prstGeom prst="rect">
            <a:avLst/>
          </a:prstGeom>
          <a:solidFill>
            <a:srgbClr val="FD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5230368"/>
            <a:ext cx="6675120" cy="256032"/>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IN PLAIN WORDS</a:t>
            </a:r>
          </a:p>
        </p:txBody>
      </p:sp>
      <p:sp>
        <p:nvSpPr>
          <p:cNvPr id="11" name="TextBox 10"/>
          <p:cNvSpPr txBox="1"/>
          <p:nvPr/>
        </p:nvSpPr>
        <p:spPr>
          <a:xfrm>
            <a:off x="667512" y="5477256"/>
            <a:ext cx="6675120" cy="859536"/>
          </a:xfrm>
          <a:prstGeom prst="rect">
            <a:avLst/>
          </a:prstGeom>
          <a:noFill/>
        </p:spPr>
        <p:txBody>
          <a:bodyPr wrap="square" anchor="t" lIns="45720" rIns="45720" tIns="27432" bIns="27432">
            <a:spAutoFit/>
          </a:bodyPr>
          <a:lstStyle/>
          <a:p>
            <a:pPr algn="l">
              <a:spcAft>
                <a:spcPts val="500"/>
              </a:spcAft>
            </a:pPr>
            <a:r>
              <a:rPr sz="1100" b="0">
                <a:solidFill>
                  <a:srgbClr val="4D4D4D"/>
                </a:solidFill>
                <a:latin typeface="Calibri"/>
              </a:rPr>
              <a:t>Our risk numbers assume the strongest possible attacker. With real trained models and a real attack (LiRA), the attack could barely tell members from non-members here. Then everyone's risk looks the same, the game disappears, and groups simply maximise accuracy.</a:t>
            </a:r>
          </a:p>
        </p:txBody>
      </p:sp>
      <p:sp>
        <p:nvSpPr>
          <p:cNvPr id="12" name="TextBox 11"/>
          <p:cNvSpPr txBox="1"/>
          <p:nvPr/>
        </p:nvSpPr>
        <p:spPr>
          <a:xfrm>
            <a:off x="7726680" y="1572768"/>
            <a:ext cx="400781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WHAT WE LOOKED AT</a:t>
            </a:r>
          </a:p>
        </p:txBody>
      </p:sp>
      <p:sp>
        <p:nvSpPr>
          <p:cNvPr id="13" name="TextBox 12"/>
          <p:cNvSpPr txBox="1"/>
          <p:nvPr/>
        </p:nvSpPr>
        <p:spPr>
          <a:xfrm>
            <a:off x="7726680" y="1847088"/>
            <a:ext cx="4007815" cy="1143000"/>
          </a:xfrm>
          <a:prstGeom prst="rect">
            <a:avLst/>
          </a:prstGeom>
          <a:noFill/>
        </p:spPr>
        <p:txBody>
          <a:bodyPr wrap="square" anchor="t" lIns="45720" rIns="45720" tIns="27432" bIns="27432">
            <a:spAutoFit/>
          </a:bodyPr>
          <a:lstStyle/>
          <a:p>
            <a:pPr algn="l">
              <a:spcAft>
                <a:spcPts val="500"/>
              </a:spcAft>
            </a:pPr>
            <a:r>
              <a:rPr sz="1150" b="1">
                <a:solidFill>
                  <a:srgbClr val="FD8C3B"/>
                </a:solidFill>
                <a:latin typeface="Calibri"/>
              </a:rPr>
              <a:t>•  </a:t>
            </a:r>
            <a:r>
              <a:rPr sz="1150" b="0">
                <a:solidFill>
                  <a:srgbClr val="4D4D4D"/>
                </a:solidFill>
                <a:latin typeface="Calibri"/>
              </a:rPr>
              <a:t>Adult, MLP, 5000 records/silo, 5×5 grid ε ∈ {2, …, 32}; 128 DP-SGD shadow models per profile; payoffs from measured LiRA + accuracy.</a:t>
            </a:r>
          </a:p>
        </p:txBody>
      </p:sp>
      <p:sp>
        <p:nvSpPr>
          <p:cNvPr id="14" name="TextBox 13"/>
          <p:cNvSpPr txBox="1"/>
          <p:nvPr/>
        </p:nvSpPr>
        <p:spPr>
          <a:xfrm>
            <a:off x="7726680" y="3017520"/>
            <a:ext cx="400781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WHAT WE FOUND</a:t>
            </a:r>
          </a:p>
        </p:txBody>
      </p:sp>
      <p:sp>
        <p:nvSpPr>
          <p:cNvPr id="15" name="TextBox 14"/>
          <p:cNvSpPr txBox="1"/>
          <p:nvPr/>
        </p:nvSpPr>
        <p:spPr>
          <a:xfrm>
            <a:off x="7726680" y="3291839"/>
            <a:ext cx="4007815" cy="1508760"/>
          </a:xfrm>
          <a:prstGeom prst="rect">
            <a:avLst/>
          </a:prstGeom>
          <a:noFill/>
        </p:spPr>
        <p:txBody>
          <a:bodyPr wrap="square" anchor="t" lIns="45720" rIns="45720" tIns="27432" bIns="27432">
            <a:spAutoFit/>
          </a:bodyPr>
          <a:lstStyle/>
          <a:p>
            <a:pPr algn="l">
              <a:spcAft>
                <a:spcPts val="500"/>
              </a:spcAft>
            </a:pPr>
            <a:r>
              <a:rPr sz="1250" b="1">
                <a:solidFill>
                  <a:srgbClr val="FD8C3B"/>
                </a:solidFill>
                <a:latin typeface="Calibri"/>
              </a:rPr>
              <a:t>•  </a:t>
            </a:r>
            <a:r>
              <a:rPr sz="1250" b="0">
                <a:solidFill>
                  <a:srgbClr val="4D4D4D"/>
                </a:solidFill>
                <a:latin typeface="Calibri"/>
              </a:rPr>
              <a:t>A</a:t>
            </a:r>
            <a:r>
              <a:rPr sz="1250" b="0" baseline="-25000">
                <a:solidFill>
                  <a:srgbClr val="4D4D4D"/>
                </a:solidFill>
                <a:latin typeface="Calibri"/>
              </a:rPr>
              <a:t>LiRA</a:t>
            </a:r>
            <a:r>
              <a:rPr sz="1250" b="0">
                <a:solidFill>
                  <a:srgbClr val="4D4D4D"/>
                </a:solidFill>
                <a:latin typeface="Calibri"/>
              </a:rPr>
              <a:t> ∈ [0.107, 0.115] (AUC ≤ 0.506) vs A</a:t>
            </a:r>
            <a:r>
              <a:rPr sz="1250" b="0" baseline="-25000">
                <a:solidFill>
                  <a:srgbClr val="4D4D4D"/>
                </a:solidFill>
                <a:latin typeface="Calibri"/>
              </a:rPr>
              <a:t>PLD</a:t>
            </a:r>
            <a:r>
              <a:rPr sz="1250" b="0">
                <a:solidFill>
                  <a:srgbClr val="4D4D4D"/>
                </a:solidFill>
                <a:latin typeface="Calibri"/>
              </a:rPr>
              <a:t> ∈ [0.004, 0.870].</a:t>
            </a:r>
          </a:p>
          <a:p>
            <a:pPr algn="l">
              <a:spcAft>
                <a:spcPts val="500"/>
              </a:spcAft>
            </a:pPr>
            <a:r>
              <a:rPr sz="1250" b="1">
                <a:solidFill>
                  <a:srgbClr val="FD8C3B"/>
                </a:solidFill>
                <a:latin typeface="Calibri"/>
              </a:rPr>
              <a:t>•  </a:t>
            </a:r>
            <a:r>
              <a:rPr sz="1250" b="0">
                <a:solidFill>
                  <a:srgbClr val="4D4D4D"/>
                </a:solidFill>
                <a:latin typeface="Calibri"/>
              </a:rPr>
              <a:t>Externality term flat → measured NE at the accuracy corner (16,16)/(32,32); analytic NE at (2,2).</a:t>
            </a:r>
          </a:p>
        </p:txBody>
      </p:sp>
      <p:sp>
        <p:nvSpPr>
          <p:cNvPr id="16" name="TextBox 15"/>
          <p:cNvSpPr txBox="1"/>
          <p:nvPr/>
        </p:nvSpPr>
        <p:spPr>
          <a:xfrm>
            <a:off x="7726680" y="4846320"/>
            <a:ext cx="400781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HOW MUCH TO TRUST IT</a:t>
            </a:r>
          </a:p>
        </p:txBody>
      </p:sp>
      <p:sp>
        <p:nvSpPr>
          <p:cNvPr id="17" name="Rounded Rectangle 16"/>
          <p:cNvSpPr/>
          <p:nvPr/>
        </p:nvSpPr>
        <p:spPr>
          <a:xfrm>
            <a:off x="7726680" y="5138928"/>
            <a:ext cx="1600200" cy="274320"/>
          </a:xfrm>
          <a:prstGeom prst="roundRect">
            <a:avLst>
              <a:gd name="adj" fmla="val 50000"/>
            </a:avLst>
          </a:prstGeom>
          <a:solidFill>
            <a:srgbClr val="E68A0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a:solidFill>
                  <a:srgbClr val="FFFFFF"/>
                </a:solidFill>
                <a:latin typeface="Calibri"/>
              </a:rPr>
              <a:t>C · provisional</a:t>
            </a:r>
          </a:p>
        </p:txBody>
      </p:sp>
      <p:sp>
        <p:nvSpPr>
          <p:cNvPr id="18" name="TextBox 17"/>
          <p:cNvSpPr txBox="1"/>
          <p:nvPr/>
        </p:nvSpPr>
        <p:spPr>
          <a:xfrm>
            <a:off x="7726680" y="5468112"/>
            <a:ext cx="4007815" cy="868680"/>
          </a:xfrm>
          <a:prstGeom prst="rect">
            <a:avLst/>
          </a:prstGeom>
          <a:noFill/>
        </p:spPr>
        <p:txBody>
          <a:bodyPr wrap="square" anchor="t" lIns="45720" rIns="45720" tIns="27432" bIns="27432">
            <a:spAutoFit/>
          </a:bodyPr>
          <a:lstStyle/>
          <a:p>
            <a:pPr algn="l">
              <a:spcAft>
                <a:spcPts val="300"/>
              </a:spcAft>
            </a:pPr>
            <a:r>
              <a:rPr sz="1100" b="1">
                <a:solidFill>
                  <a:srgbClr val="FD8C3B"/>
                </a:solidFill>
                <a:latin typeface="Calibri"/>
              </a:rPr>
              <a:t>•  </a:t>
            </a:r>
            <a:r>
              <a:rPr sz="1100" b="0">
                <a:solidFill>
                  <a:srgbClr val="4D4D4D"/>
                </a:solidFill>
                <a:latin typeface="Calibri"/>
              </a:rPr>
              <a:t>Pre-fix mechanism (audit: σ ≤ 2.6%, rates ≤ 18.5% off); one dataset. The above-floor instance is the main missing experiment.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320040"/>
          </a:xfrm>
          <a:prstGeom prst="rect">
            <a:avLst/>
          </a:prstGeom>
          <a:noFill/>
        </p:spPr>
        <p:txBody>
          <a:bodyPr wrap="square" anchor="t" lIns="45720" rIns="45720" tIns="27432" bIns="27432">
            <a:spAutoFit/>
          </a:bodyPr>
          <a:lstStyle/>
          <a:p>
            <a:pPr algn="l">
              <a:spcAft>
                <a:spcPts val="500"/>
              </a:spcAft>
            </a:pPr>
            <a:r>
              <a:rPr sz="1200" b="1">
                <a:solidFill>
                  <a:srgbClr val="FD8C3B"/>
                </a:solidFill>
                <a:latin typeface="Calibri"/>
              </a:rPr>
              <a:t>FINDING 13 · MITIGATION</a:t>
            </a:r>
          </a:p>
        </p:txBody>
      </p:sp>
      <p:sp>
        <p:nvSpPr>
          <p:cNvPr id="3" name="TextBox 2"/>
          <p:cNvSpPr txBox="1"/>
          <p:nvPr/>
        </p:nvSpPr>
        <p:spPr>
          <a:xfrm>
            <a:off x="502920" y="566928"/>
            <a:ext cx="11247120" cy="868680"/>
          </a:xfrm>
          <a:prstGeom prst="rect">
            <a:avLst/>
          </a:prstGeom>
          <a:noFill/>
        </p:spPr>
        <p:txBody>
          <a:bodyPr wrap="square" anchor="t" lIns="45720" rIns="45720" tIns="27432" bIns="27432">
            <a:spAutoFit/>
          </a:bodyPr>
          <a:lstStyle/>
          <a:p>
            <a:pPr algn="l">
              <a:spcAft>
                <a:spcPts val="500"/>
              </a:spcAft>
            </a:pPr>
            <a:r>
              <a:rPr sz="2600" b="1">
                <a:solidFill>
                  <a:srgbClr val="08306B"/>
                </a:solidFill>
                <a:latin typeface="Calibri"/>
              </a:rPr>
              <a:t>Fix the contract, not the players: cap the slack</a:t>
            </a:r>
          </a:p>
        </p:txBody>
      </p:sp>
      <p:cxnSp>
        <p:nvCxnSpPr>
          <p:cNvPr id="4" name="Connector 3"/>
          <p:cNvCxnSpPr/>
          <p:nvPr/>
        </p:nvCxnSpPr>
        <p:spPr>
          <a:xfrm>
            <a:off x="548640" y="1417320"/>
            <a:ext cx="11091672" cy="0"/>
          </a:xfrm>
          <a:prstGeom prst="line">
            <a:avLst/>
          </a:prstGeom>
          <a:ln w="12700">
            <a:solidFill>
              <a:srgbClr val="D0D6D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46520"/>
            <a:ext cx="7315200" cy="274320"/>
          </a:xfrm>
          <a:prstGeom prst="rect">
            <a:avLst/>
          </a:prstGeom>
          <a:noFill/>
        </p:spPr>
        <p:txBody>
          <a:bodyPr wrap="square" anchor="t" lIns="45720" rIns="45720" tIns="27432" bIns="27432">
            <a:spAutoFit/>
          </a:bodyPr>
          <a:lstStyle/>
          <a:p>
            <a:pPr algn="l">
              <a:spcAft>
                <a:spcPts val="500"/>
              </a:spcAft>
            </a:pPr>
            <a:r>
              <a:rPr sz="900" b="0">
                <a:solidFill>
                  <a:srgbClr val="8A8A8A"/>
                </a:solidFill>
                <a:latin typeface="Calibri"/>
              </a:rPr>
              <a:t>The Privacy Externality Game · strategic budgets in sampling-based iDP</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spcAft>
                <a:spcPts val="500"/>
              </a:spcAft>
            </a:pPr>
            <a:r>
              <a:rPr sz="900" b="0">
                <a:solidFill>
                  <a:srgbClr val="8A8A8A"/>
                </a:solidFill>
                <a:latin typeface="Calibri"/>
              </a:rPr>
              <a:t>14</a:t>
            </a:r>
          </a:p>
        </p:txBody>
      </p:sp>
      <p:pic>
        <p:nvPicPr>
          <p:cNvPr id="7" name="Picture 6" descr="fig_slack_panel.png"/>
          <p:cNvPicPr>
            <a:picLocks noChangeAspect="1"/>
          </p:cNvPicPr>
          <p:nvPr/>
        </p:nvPicPr>
        <p:blipFill>
          <a:blip r:embed="rId2"/>
          <a:stretch>
            <a:fillRect/>
          </a:stretch>
        </p:blipFill>
        <p:spPr>
          <a:xfrm>
            <a:off x="1079658" y="1572768"/>
            <a:ext cx="3967163" cy="3310128"/>
          </a:xfrm>
          <a:prstGeom prst="rect">
            <a:avLst/>
          </a:prstGeom>
        </p:spPr>
      </p:pic>
      <p:sp>
        <p:nvSpPr>
          <p:cNvPr id="8" name="TextBox 7"/>
          <p:cNvSpPr txBox="1"/>
          <p:nvPr/>
        </p:nvSpPr>
        <p:spPr>
          <a:xfrm>
            <a:off x="502920" y="4882896"/>
            <a:ext cx="5120640" cy="457200"/>
          </a:xfrm>
          <a:prstGeom prst="rect">
            <a:avLst/>
          </a:prstGeom>
          <a:noFill/>
        </p:spPr>
        <p:txBody>
          <a:bodyPr wrap="square" anchor="t" lIns="45720" rIns="45720" tIns="27432" bIns="27432">
            <a:spAutoFit/>
          </a:bodyPr>
          <a:lstStyle/>
          <a:p>
            <a:pPr algn="l">
              <a:spcAft>
                <a:spcPts val="500"/>
              </a:spcAft>
            </a:pPr>
            <a:r>
              <a:rPr sz="1000" b="0">
                <a:solidFill>
                  <a:srgbClr val="6A6A6A"/>
                </a:solidFill>
                <a:latin typeface="Calibri"/>
              </a:rPr>
              <a:t>The shaded slack is the movable part of the risk that the Δ-clause caps.</a:t>
            </a:r>
          </a:p>
        </p:txBody>
      </p:sp>
      <p:sp>
        <p:nvSpPr>
          <p:cNvPr id="9" name="Rectangle 8"/>
          <p:cNvSpPr/>
          <p:nvPr/>
        </p:nvSpPr>
        <p:spPr>
          <a:xfrm>
            <a:off x="502920" y="5175504"/>
            <a:ext cx="5120640" cy="1207008"/>
          </a:xfrm>
          <a:prstGeom prst="rect">
            <a:avLst/>
          </a:prstGeom>
          <a:solidFill>
            <a:srgbClr val="FF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175504"/>
            <a:ext cx="54864" cy="1207008"/>
          </a:xfrm>
          <a:prstGeom prst="rect">
            <a:avLst/>
          </a:prstGeom>
          <a:solidFill>
            <a:srgbClr val="FD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5230368"/>
            <a:ext cx="4846320" cy="256032"/>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IN PLAIN WORDS</a:t>
            </a:r>
          </a:p>
        </p:txBody>
      </p:sp>
      <p:sp>
        <p:nvSpPr>
          <p:cNvPr id="12" name="TextBox 11"/>
          <p:cNvSpPr txBox="1"/>
          <p:nvPr/>
        </p:nvSpPr>
        <p:spPr>
          <a:xfrm>
            <a:off x="667512" y="5477256"/>
            <a:ext cx="4846320" cy="859536"/>
          </a:xfrm>
          <a:prstGeom prst="rect">
            <a:avLst/>
          </a:prstGeom>
          <a:noFill/>
        </p:spPr>
        <p:txBody>
          <a:bodyPr wrap="square" anchor="t" lIns="45720" rIns="45720" tIns="27432" bIns="27432">
            <a:spAutoFit/>
          </a:bodyPr>
          <a:lstStyle/>
          <a:p>
            <a:pPr algn="l">
              <a:spcAft>
                <a:spcPts val="500"/>
              </a:spcAft>
            </a:pPr>
            <a:r>
              <a:rPr sz="1100" b="0">
                <a:solidFill>
                  <a:srgbClr val="4D4D4D"/>
                </a:solidFill>
                <a:latin typeface="Calibri"/>
              </a:rPr>
              <a:t>The problem is that others can move your risk without breaking your contract. The fix is to cap how far they can move it: promise a maximum excess Δ on top of ε. Asking for honest budget reports cannot fix it, and a flat price per unit of risk doesn't help; only a price that grows with the risk does.</a:t>
            </a:r>
          </a:p>
        </p:txBody>
      </p:sp>
      <p:sp>
        <p:nvSpPr>
          <p:cNvPr id="13" name="TextBox 12"/>
          <p:cNvSpPr txBox="1"/>
          <p:nvPr/>
        </p:nvSpPr>
        <p:spPr>
          <a:xfrm>
            <a:off x="5897879" y="1572768"/>
            <a:ext cx="583661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WHAT WE LOOKED AT</a:t>
            </a:r>
          </a:p>
        </p:txBody>
      </p:sp>
      <p:sp>
        <p:nvSpPr>
          <p:cNvPr id="14" name="TextBox 13"/>
          <p:cNvSpPr txBox="1"/>
          <p:nvPr/>
        </p:nvSpPr>
        <p:spPr>
          <a:xfrm>
            <a:off x="5897879" y="1847088"/>
            <a:ext cx="5836615" cy="1143000"/>
          </a:xfrm>
          <a:prstGeom prst="rect">
            <a:avLst/>
          </a:prstGeom>
          <a:noFill/>
        </p:spPr>
        <p:txBody>
          <a:bodyPr wrap="square" anchor="t" lIns="45720" rIns="45720" tIns="27432" bIns="27432">
            <a:spAutoFit/>
          </a:bodyPr>
          <a:lstStyle/>
          <a:p>
            <a:pPr algn="l">
              <a:spcAft>
                <a:spcPts val="500"/>
              </a:spcAft>
            </a:pPr>
            <a:r>
              <a:rPr sz="1150" b="1">
                <a:solidFill>
                  <a:srgbClr val="FD8C3B"/>
                </a:solidFill>
                <a:latin typeface="Calibri"/>
              </a:rPr>
              <a:t>•  </a:t>
            </a:r>
            <a:r>
              <a:rPr sz="1150" b="0">
                <a:solidFill>
                  <a:srgbClr val="4D4D4D"/>
                </a:solidFill>
                <a:latin typeface="Calibri"/>
              </a:rPr>
              <a:t>Slack decomposition A</a:t>
            </a:r>
            <a:r>
              <a:rPr sz="1150" b="0" baseline="-25000">
                <a:solidFill>
                  <a:srgbClr val="4D4D4D"/>
                </a:solidFill>
                <a:latin typeface="Calibri"/>
              </a:rPr>
              <a:t>PLD,i</a:t>
            </a:r>
            <a:r>
              <a:rPr sz="1150" b="0">
                <a:solidFill>
                  <a:srgbClr val="4D4D4D"/>
                </a:solidFill>
                <a:latin typeface="Calibri"/>
              </a:rPr>
              <a:t> = A</a:t>
            </a:r>
            <a:r>
              <a:rPr sz="1150" b="0" baseline="-25000">
                <a:solidFill>
                  <a:srgbClr val="4D4D4D"/>
                </a:solidFill>
                <a:latin typeface="Calibri"/>
              </a:rPr>
              <a:t>εᵢ,δ</a:t>
            </a:r>
            <a:r>
              <a:rPr sz="1150" b="0">
                <a:solidFill>
                  <a:srgbClr val="4D4D4D"/>
                </a:solidFill>
                <a:latin typeface="Calibri"/>
              </a:rPr>
              <a:t> − slack</a:t>
            </a:r>
            <a:r>
              <a:rPr sz="1150" b="0" baseline="-25000">
                <a:solidFill>
                  <a:srgbClr val="4D4D4D"/>
                </a:solidFill>
                <a:latin typeface="Calibri"/>
              </a:rPr>
              <a:t>i</a:t>
            </a:r>
            <a:r>
              <a:rPr sz="1150" b="0">
                <a:solidFill>
                  <a:srgbClr val="4D4D4D"/>
                </a:solidFill>
                <a:latin typeface="Calibri"/>
              </a:rPr>
              <a:t>; budget declaration as a direct mechanism; linear vs convex exposure pricing.</a:t>
            </a:r>
          </a:p>
        </p:txBody>
      </p:sp>
      <p:sp>
        <p:nvSpPr>
          <p:cNvPr id="15" name="TextBox 14"/>
          <p:cNvSpPr txBox="1"/>
          <p:nvPr/>
        </p:nvSpPr>
        <p:spPr>
          <a:xfrm>
            <a:off x="5897879" y="3017520"/>
            <a:ext cx="583661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WHAT WE FOUND</a:t>
            </a:r>
          </a:p>
        </p:txBody>
      </p:sp>
      <p:sp>
        <p:nvSpPr>
          <p:cNvPr id="16" name="TextBox 15"/>
          <p:cNvSpPr txBox="1"/>
          <p:nvPr/>
        </p:nvSpPr>
        <p:spPr>
          <a:xfrm>
            <a:off x="5897879" y="3291839"/>
            <a:ext cx="5836615" cy="1508760"/>
          </a:xfrm>
          <a:prstGeom prst="rect">
            <a:avLst/>
          </a:prstGeom>
          <a:noFill/>
        </p:spPr>
        <p:txBody>
          <a:bodyPr wrap="square" anchor="t" lIns="45720" rIns="45720" tIns="27432" bIns="27432">
            <a:spAutoFit/>
          </a:bodyPr>
          <a:lstStyle/>
          <a:p>
            <a:pPr algn="l">
              <a:spcAft>
                <a:spcPts val="500"/>
              </a:spcAft>
            </a:pPr>
            <a:r>
              <a:rPr sz="1250" b="1">
                <a:solidFill>
                  <a:srgbClr val="FD8C3B"/>
                </a:solidFill>
                <a:latin typeface="Calibri"/>
              </a:rPr>
              <a:t>•  </a:t>
            </a:r>
            <a:r>
              <a:rPr sz="1250" b="1">
                <a:solidFill>
                  <a:srgbClr val="08306B"/>
                </a:solidFill>
                <a:latin typeface="Calibri"/>
              </a:rPr>
              <a:t>Δ-iDP:</a:t>
            </a:r>
            <a:r>
              <a:rPr sz="1250" b="0">
                <a:solidFill>
                  <a:srgbClr val="4D4D4D"/>
                </a:solidFill>
                <a:latin typeface="Calibri"/>
              </a:rPr>
              <a:t> slack</a:t>
            </a:r>
            <a:r>
              <a:rPr sz="1250" b="0" baseline="-25000">
                <a:solidFill>
                  <a:srgbClr val="4D4D4D"/>
                </a:solidFill>
                <a:latin typeface="Calibri"/>
              </a:rPr>
              <a:t>i</a:t>
            </a:r>
            <a:r>
              <a:rPr sz="1250" b="0">
                <a:solidFill>
                  <a:srgbClr val="4D4D4D"/>
                </a:solidFill>
                <a:latin typeface="Calibri"/>
              </a:rPr>
              <a:t> ≤ Δ ⇒ no coalition moves A</a:t>
            </a:r>
            <a:r>
              <a:rPr sz="1250" b="0" baseline="-25000">
                <a:solidFill>
                  <a:srgbClr val="4D4D4D"/>
                </a:solidFill>
                <a:latin typeface="Calibri"/>
              </a:rPr>
              <a:t>PLD,i</a:t>
            </a:r>
            <a:r>
              <a:rPr sz="1250" b="0">
                <a:solidFill>
                  <a:srgbClr val="4D4D4D"/>
                </a:solidFill>
                <a:latin typeface="Calibri"/>
              </a:rPr>
              <a:t> by more than Δ at fixed ε</a:t>
            </a:r>
            <a:r>
              <a:rPr sz="1250" b="0" baseline="-25000">
                <a:solidFill>
                  <a:srgbClr val="4D4D4D"/>
                </a:solidFill>
                <a:latin typeface="Calibri"/>
              </a:rPr>
              <a:t>i</a:t>
            </a:r>
            <a:r>
              <a:rPr sz="1250" b="0">
                <a:solidFill>
                  <a:srgbClr val="4D4D4D"/>
                </a:solidFill>
                <a:latin typeface="Calibri"/>
              </a:rPr>
              <a:t>.</a:t>
            </a:r>
          </a:p>
          <a:p>
            <a:pPr algn="l">
              <a:spcAft>
                <a:spcPts val="500"/>
              </a:spcAft>
            </a:pPr>
            <a:r>
              <a:rPr sz="1250" b="1">
                <a:solidFill>
                  <a:srgbClr val="FD8C3B"/>
                </a:solidFill>
                <a:latin typeface="Calibri"/>
              </a:rPr>
              <a:t>•  </a:t>
            </a:r>
            <a:r>
              <a:rPr sz="1250" b="0">
                <a:solidFill>
                  <a:srgbClr val="4D4D4D"/>
                </a:solidFill>
                <a:latin typeface="Calibri"/>
              </a:rPr>
              <a:t>Budget reports are </a:t>
            </a:r>
            <a:r>
              <a:rPr sz="1250" b="1">
                <a:solidFill>
                  <a:srgbClr val="08306B"/>
                </a:solidFill>
                <a:latin typeface="Calibri"/>
              </a:rPr>
              <a:t>not DSIC</a:t>
            </a:r>
            <a:r>
              <a:rPr sz="1250" b="0">
                <a:solidFill>
                  <a:srgbClr val="4D4D4D"/>
                </a:solidFill>
                <a:latin typeface="Calibri"/>
              </a:rPr>
              <a:t>: the best report depends on the others.</a:t>
            </a:r>
          </a:p>
          <a:p>
            <a:pPr algn="l">
              <a:spcAft>
                <a:spcPts val="500"/>
              </a:spcAft>
            </a:pPr>
            <a:r>
              <a:rPr sz="1250" b="1">
                <a:solidFill>
                  <a:srgbClr val="FD8C3B"/>
                </a:solidFill>
                <a:latin typeface="Calibri"/>
              </a:rPr>
              <a:t>•  </a:t>
            </a:r>
            <a:r>
              <a:rPr sz="1250" b="0">
                <a:solidFill>
                  <a:srgbClr val="4D4D4D"/>
                </a:solidFill>
                <a:latin typeface="Calibri"/>
              </a:rPr>
              <a:t>Linear prices only rescale the game; </a:t>
            </a:r>
            <a:r>
              <a:rPr sz="1250" b="1">
                <a:solidFill>
                  <a:srgbClr val="08306B"/>
                </a:solidFill>
                <a:latin typeface="Calibri"/>
              </a:rPr>
              <a:t>convex</a:t>
            </a:r>
            <a:r>
              <a:rPr sz="1250" b="0">
                <a:solidFill>
                  <a:srgbClr val="4D4D4D"/>
                </a:solidFill>
                <a:latin typeface="Calibri"/>
              </a:rPr>
              <a:t> pricing gives symmetric interior NE already at T = 1.</a:t>
            </a:r>
          </a:p>
        </p:txBody>
      </p:sp>
      <p:sp>
        <p:nvSpPr>
          <p:cNvPr id="17" name="TextBox 16"/>
          <p:cNvSpPr txBox="1"/>
          <p:nvPr/>
        </p:nvSpPr>
        <p:spPr>
          <a:xfrm>
            <a:off x="5897879" y="4846320"/>
            <a:ext cx="5836615" cy="274320"/>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HOW MUCH TO TRUST IT</a:t>
            </a:r>
          </a:p>
        </p:txBody>
      </p:sp>
      <p:sp>
        <p:nvSpPr>
          <p:cNvPr id="18" name="Rounded Rectangle 17"/>
          <p:cNvSpPr/>
          <p:nvPr/>
        </p:nvSpPr>
        <p:spPr>
          <a:xfrm>
            <a:off x="5897879" y="5138928"/>
            <a:ext cx="1600200" cy="27432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a:solidFill>
                  <a:srgbClr val="FFFFFF"/>
                </a:solidFill>
                <a:latin typeface="Calibri"/>
              </a:rPr>
              <a:t>A · proved / exact</a:t>
            </a:r>
          </a:p>
        </p:txBody>
      </p:sp>
      <p:sp>
        <p:nvSpPr>
          <p:cNvPr id="19" name="Rounded Rectangle 18"/>
          <p:cNvSpPr/>
          <p:nvPr/>
        </p:nvSpPr>
        <p:spPr>
          <a:xfrm>
            <a:off x="7589519" y="5138928"/>
            <a:ext cx="1600200" cy="274320"/>
          </a:xfrm>
          <a:prstGeom prst="roundRect">
            <a:avLst>
              <a:gd name="adj" fmla="val 50000"/>
            </a:avLst>
          </a:prstGeom>
          <a:solidFill>
            <a:srgbClr val="E68A0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a:solidFill>
                  <a:srgbClr val="FFFFFF"/>
                </a:solidFill>
                <a:latin typeface="Calibri"/>
              </a:rPr>
              <a:t>C · provisional</a:t>
            </a:r>
          </a:p>
        </p:txBody>
      </p:sp>
      <p:sp>
        <p:nvSpPr>
          <p:cNvPr id="20" name="TextBox 19"/>
          <p:cNvSpPr txBox="1"/>
          <p:nvPr/>
        </p:nvSpPr>
        <p:spPr>
          <a:xfrm>
            <a:off x="5897879" y="5468112"/>
            <a:ext cx="5836615" cy="868680"/>
          </a:xfrm>
          <a:prstGeom prst="rect">
            <a:avLst/>
          </a:prstGeom>
          <a:noFill/>
        </p:spPr>
        <p:txBody>
          <a:bodyPr wrap="square" anchor="t" lIns="45720" rIns="45720" tIns="27432" bIns="27432">
            <a:spAutoFit/>
          </a:bodyPr>
          <a:lstStyle/>
          <a:p>
            <a:pPr algn="l">
              <a:spcAft>
                <a:spcPts val="300"/>
              </a:spcAft>
            </a:pPr>
            <a:r>
              <a:rPr sz="1100" b="1">
                <a:solidFill>
                  <a:srgbClr val="FD8C3B"/>
                </a:solidFill>
                <a:latin typeface="Calibri"/>
              </a:rPr>
              <a:t>•  </a:t>
            </a:r>
            <a:r>
              <a:rPr sz="1100" b="0">
                <a:solidFill>
                  <a:srgbClr val="4D4D4D"/>
                </a:solidFill>
                <a:latin typeface="Calibri"/>
              </a:rPr>
              <a:t>Δ bound and non-DSIC proved. Convex-pricing result at sample resolution. Whether the Δ-restricted game is unique/symmetric, and its cost, is open.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320040"/>
          </a:xfrm>
          <a:prstGeom prst="rect">
            <a:avLst/>
          </a:prstGeom>
          <a:noFill/>
        </p:spPr>
        <p:txBody>
          <a:bodyPr wrap="square" anchor="t" lIns="45720" rIns="45720" tIns="27432" bIns="27432">
            <a:spAutoFit/>
          </a:bodyPr>
          <a:lstStyle/>
          <a:p>
            <a:pPr algn="l">
              <a:spcAft>
                <a:spcPts val="500"/>
              </a:spcAft>
            </a:pPr>
            <a:r>
              <a:rPr sz="1200" b="1">
                <a:solidFill>
                  <a:srgbClr val="FD8C3B"/>
                </a:solidFill>
                <a:latin typeface="Calibri"/>
              </a:rPr>
              <a:t>AUDIT · PAPER VS. DATA</a:t>
            </a:r>
          </a:p>
        </p:txBody>
      </p:sp>
      <p:sp>
        <p:nvSpPr>
          <p:cNvPr id="3" name="TextBox 2"/>
          <p:cNvSpPr txBox="1"/>
          <p:nvPr/>
        </p:nvSpPr>
        <p:spPr>
          <a:xfrm>
            <a:off x="502920" y="566928"/>
            <a:ext cx="11247120" cy="868680"/>
          </a:xfrm>
          <a:prstGeom prst="rect">
            <a:avLst/>
          </a:prstGeom>
          <a:noFill/>
        </p:spPr>
        <p:txBody>
          <a:bodyPr wrap="square" anchor="t" lIns="45720" rIns="45720" tIns="27432" bIns="27432">
            <a:spAutoFit/>
          </a:bodyPr>
          <a:lstStyle/>
          <a:p>
            <a:pPr algn="l">
              <a:spcAft>
                <a:spcPts val="500"/>
              </a:spcAft>
            </a:pPr>
            <a:r>
              <a:rPr sz="2600" b="1">
                <a:solidFill>
                  <a:srgbClr val="08306B"/>
                </a:solidFill>
                <a:latin typeface="Calibri"/>
              </a:rPr>
              <a:t>Where the paper disagrees with the data</a:t>
            </a:r>
          </a:p>
        </p:txBody>
      </p:sp>
      <p:cxnSp>
        <p:nvCxnSpPr>
          <p:cNvPr id="4" name="Connector 3"/>
          <p:cNvCxnSpPr/>
          <p:nvPr/>
        </p:nvCxnSpPr>
        <p:spPr>
          <a:xfrm>
            <a:off x="548640" y="1417320"/>
            <a:ext cx="11091672" cy="0"/>
          </a:xfrm>
          <a:prstGeom prst="line">
            <a:avLst/>
          </a:prstGeom>
          <a:ln w="12700">
            <a:solidFill>
              <a:srgbClr val="D0D6D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46520"/>
            <a:ext cx="7315200" cy="274320"/>
          </a:xfrm>
          <a:prstGeom prst="rect">
            <a:avLst/>
          </a:prstGeom>
          <a:noFill/>
        </p:spPr>
        <p:txBody>
          <a:bodyPr wrap="square" anchor="t" lIns="45720" rIns="45720" tIns="27432" bIns="27432">
            <a:spAutoFit/>
          </a:bodyPr>
          <a:lstStyle/>
          <a:p>
            <a:pPr algn="l">
              <a:spcAft>
                <a:spcPts val="500"/>
              </a:spcAft>
            </a:pPr>
            <a:r>
              <a:rPr sz="900" b="0">
                <a:solidFill>
                  <a:srgbClr val="8A8A8A"/>
                </a:solidFill>
                <a:latin typeface="Calibri"/>
              </a:rPr>
              <a:t>The Privacy Externality Game · strategic budgets in sampling-based iDP</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spcAft>
                <a:spcPts val="500"/>
              </a:spcAft>
            </a:pPr>
            <a:r>
              <a:rPr sz="900" b="0">
                <a:solidFill>
                  <a:srgbClr val="8A8A8A"/>
                </a:solidFill>
                <a:latin typeface="Calibri"/>
              </a:rPr>
              <a:t>15</a:t>
            </a:r>
          </a:p>
        </p:txBody>
      </p:sp>
      <p:graphicFrame>
        <p:nvGraphicFramePr>
          <p:cNvPr id="7" name="Table 6"/>
          <p:cNvGraphicFramePr>
            <a:graphicFrameLocks noGrp="1"/>
          </p:cNvGraphicFramePr>
          <p:nvPr/>
        </p:nvGraphicFramePr>
        <p:xfrm>
          <a:off x="548640" y="1600200"/>
          <a:ext cx="11109960" cy="3566160"/>
        </p:xfrm>
        <a:graphic>
          <a:graphicData uri="http://schemas.openxmlformats.org/drawingml/2006/table">
            <a:tbl>
              <a:tblPr firstRow="1" bandRow="1">
                <a:tableStyleId>{5C22544A-7EE6-4342-B048-85BDC9FD1C3A}</a:tableStyleId>
              </a:tblPr>
              <a:tblGrid>
                <a:gridCol w="4206240"/>
                <a:gridCol w="4983480"/>
                <a:gridCol w="1920240"/>
              </a:tblGrid>
              <a:tr h="297180">
                <a:tc>
                  <a:txBody>
                    <a:bodyPr/>
                    <a:lstStyle/>
                    <a:p>
                      <a:pPr algn="l"/>
                      <a:r>
                        <a:rPr sz="1100" b="1">
                          <a:solidFill>
                            <a:srgbClr val="FFFFFF"/>
                          </a:solidFill>
                          <a:latin typeface="Calibri"/>
                        </a:rPr>
                        <a:t>Paper claim</a:t>
                      </a:r>
                    </a:p>
                  </a:txBody>
                  <a:tcPr marL="54864" marR="54864" marT="27432" marB="27432">
                    <a:solidFill>
                      <a:srgbClr val="08306B"/>
                    </a:solidFill>
                  </a:tcPr>
                </a:tc>
                <a:tc>
                  <a:txBody>
                    <a:bodyPr/>
                    <a:lstStyle/>
                    <a:p>
                      <a:pPr algn="ctr"/>
                      <a:r>
                        <a:rPr sz="1100" b="1">
                          <a:solidFill>
                            <a:srgbClr val="FFFFFF"/>
                          </a:solidFill>
                          <a:latin typeface="Calibri"/>
                        </a:rPr>
                        <a:t>Current data</a:t>
                      </a:r>
                    </a:p>
                  </a:txBody>
                  <a:tcPr marL="54864" marR="54864" marT="27432" marB="27432">
                    <a:solidFill>
                      <a:srgbClr val="08306B"/>
                    </a:solidFill>
                  </a:tcPr>
                </a:tc>
                <a:tc>
                  <a:txBody>
                    <a:bodyPr/>
                    <a:lstStyle/>
                    <a:p>
                      <a:pPr algn="ctr"/>
                      <a:r>
                        <a:rPr sz="1100" b="1">
                          <a:solidFill>
                            <a:srgbClr val="FFFFFF"/>
                          </a:solidFill>
                          <a:latin typeface="Calibri"/>
                        </a:rPr>
                        <a:t>Verdict</a:t>
                      </a:r>
                    </a:p>
                  </a:txBody>
                  <a:tcPr marL="54864" marR="54864" marT="27432" marB="27432">
                    <a:solidFill>
                      <a:srgbClr val="08306B"/>
                    </a:solidFill>
                  </a:tcPr>
                </a:tc>
              </a:tr>
              <a:tr h="297180">
                <a:tc>
                  <a:txBody>
                    <a:bodyPr/>
                    <a:lstStyle/>
                    <a:p>
                      <a:pPr algn="l"/>
                      <a:r>
                        <a:rPr sz="1100" b="0">
                          <a:solidFill>
                            <a:srgbClr val="4D4D4D"/>
                          </a:solidFill>
                          <a:latin typeface="Calibri"/>
                        </a:rPr>
                        <a:t>One symmetric NE (text) vs. none (Figs. 3, 14)</a:t>
                      </a:r>
                    </a:p>
                  </a:txBody>
                  <a:tcPr marL="54864" marR="54864" marT="27432" marB="27432">
                    <a:solidFill>
                      <a:srgbClr val="F2F4F7"/>
                    </a:solidFill>
                  </a:tcPr>
                </a:tc>
                <a:tc>
                  <a:txBody>
                    <a:bodyPr/>
                    <a:lstStyle/>
                    <a:p>
                      <a:pPr algn="ctr"/>
                      <a:r>
                        <a:rPr sz="1100" b="0">
                          <a:solidFill>
                            <a:srgbClr val="4D4D4D"/>
                          </a:solidFill>
                          <a:latin typeface="Calibri"/>
                        </a:rPr>
                        <a:t>one symmetric NE exists: exact ε* ≈ 2.59; grid shows it at 2.96</a:t>
                      </a:r>
                    </a:p>
                  </a:txBody>
                  <a:tcPr marL="54864" marR="54864" marT="27432" marB="27432">
                    <a:solidFill>
                      <a:srgbClr val="F2F4F7"/>
                    </a:solidFill>
                  </a:tcPr>
                </a:tc>
                <a:tc>
                  <a:txBody>
                    <a:bodyPr/>
                    <a:lstStyle/>
                    <a:p>
                      <a:pPr algn="ctr"/>
                      <a:r>
                        <a:rPr sz="1100" b="0">
                          <a:solidFill>
                            <a:srgbClr val="4D4D4D"/>
                          </a:solidFill>
                          <a:latin typeface="Calibri"/>
                        </a:rPr>
                        <a:t>captions wrong</a:t>
                      </a:r>
                    </a:p>
                  </a:txBody>
                  <a:tcPr marL="54864" marR="54864" marT="27432" marB="27432">
                    <a:solidFill>
                      <a:srgbClr val="F2F4F7"/>
                    </a:solidFill>
                  </a:tcPr>
                </a:tc>
              </a:tr>
              <a:tr h="297180">
                <a:tc>
                  <a:txBody>
                    <a:bodyPr/>
                    <a:lstStyle/>
                    <a:p>
                      <a:pPr algn="l"/>
                      <a:r>
                        <a:rPr sz="1100" b="0">
                          <a:solidFill>
                            <a:srgbClr val="4D4D4D"/>
                          </a:solidFill>
                          <a:latin typeface="Calibri"/>
                        </a:rPr>
                        <a:t>Symmetric NE confirmed by 25-point refinement at 2.96</a:t>
                      </a:r>
                    </a:p>
                  </a:txBody>
                  <a:tcPr marL="54864" marR="54864" marT="27432" marB="27432">
                    <a:solidFill>
                      <a:srgbClr val="FFFFFF"/>
                    </a:solidFill>
                  </a:tcPr>
                </a:tc>
                <a:tc>
                  <a:txBody>
                    <a:bodyPr/>
                    <a:lstStyle/>
                    <a:p>
                      <a:pPr algn="ctr"/>
                      <a:r>
                        <a:rPr sz="1100" b="0">
                          <a:solidFill>
                            <a:srgbClr val="4D4D4D"/>
                          </a:solidFill>
                          <a:latin typeface="Calibri"/>
                        </a:rPr>
                        <a:t>deployed grid: 10</a:t>
                      </a:r>
                      <a:r>
                        <a:rPr sz="1100" b="0" baseline="30000">
                          <a:solidFill>
                            <a:srgbClr val="4D4D4D"/>
                          </a:solidFill>
                          <a:latin typeface="Calibri"/>
                        </a:rPr>
                        <a:t>−4</a:t>
                      </a:r>
                      <a:r>
                        <a:rPr sz="1100" b="0">
                          <a:solidFill>
                            <a:srgbClr val="4D4D4D"/>
                          </a:solidFill>
                          <a:latin typeface="Calibri"/>
                        </a:rPr>
                        <a:t> near-tie, dissolves at 16×</a:t>
                      </a:r>
                    </a:p>
                  </a:txBody>
                  <a:tcPr marL="54864" marR="54864" marT="27432" marB="27432">
                    <a:solidFill>
                      <a:srgbClr val="FFFFFF"/>
                    </a:solidFill>
                  </a:tcPr>
                </a:tc>
                <a:tc>
                  <a:txBody>
                    <a:bodyPr/>
                    <a:lstStyle/>
                    <a:p>
                      <a:pPr algn="ctr"/>
                      <a:r>
                        <a:rPr sz="1100" b="0">
                          <a:solidFill>
                            <a:srgbClr val="4D4D4D"/>
                          </a:solidFill>
                          <a:latin typeface="Calibri"/>
                        </a:rPr>
                        <a:t>scoped</a:t>
                      </a:r>
                    </a:p>
                  </a:txBody>
                  <a:tcPr marL="54864" marR="54864" marT="27432" marB="27432">
                    <a:solidFill>
                      <a:srgbClr val="FFFFFF"/>
                    </a:solidFill>
                  </a:tcPr>
                </a:tc>
              </a:tr>
              <a:tr h="297180">
                <a:tc>
                  <a:txBody>
                    <a:bodyPr/>
                    <a:lstStyle/>
                    <a:p>
                      <a:pPr algn="l"/>
                      <a:r>
                        <a:rPr sz="1100" b="0">
                          <a:solidFill>
                            <a:srgbClr val="4D4D4D"/>
                          </a:solidFill>
                          <a:latin typeface="Calibri"/>
                        </a:rPr>
                        <a:t>Fig. 14 counts 44–60 NE</a:t>
                      </a:r>
                    </a:p>
                  </a:txBody>
                  <a:tcPr marL="54864" marR="54864" marT="27432" marB="27432">
                    <a:solidFill>
                      <a:srgbClr val="F2F4F7"/>
                    </a:solidFill>
                  </a:tcPr>
                </a:tc>
                <a:tc>
                  <a:txBody>
                    <a:bodyPr/>
                    <a:lstStyle/>
                    <a:p>
                      <a:pPr algn="ctr"/>
                      <a:r>
                        <a:rPr sz="1100" b="0">
                          <a:solidFill>
                            <a:srgbClr val="4D4D4D"/>
                          </a:solidFill>
                          <a:latin typeface="Calibri"/>
                        </a:rPr>
                        <a:t>27–45 NE post-fix</a:t>
                      </a:r>
                    </a:p>
                  </a:txBody>
                  <a:tcPr marL="54864" marR="54864" marT="27432" marB="27432">
                    <a:solidFill>
                      <a:srgbClr val="F2F4F7"/>
                    </a:solidFill>
                  </a:tcPr>
                </a:tc>
                <a:tc>
                  <a:txBody>
                    <a:bodyPr/>
                    <a:lstStyle/>
                    <a:p>
                      <a:pPr algn="ctr"/>
                      <a:r>
                        <a:rPr sz="1100" b="0">
                          <a:solidFill>
                            <a:srgbClr val="4D4D4D"/>
                          </a:solidFill>
                          <a:latin typeface="Calibri"/>
                        </a:rPr>
                        <a:t>stale</a:t>
                      </a:r>
                    </a:p>
                  </a:txBody>
                  <a:tcPr marL="54864" marR="54864" marT="27432" marB="27432">
                    <a:solidFill>
                      <a:srgbClr val="F2F4F7"/>
                    </a:solidFill>
                  </a:tcPr>
                </a:tc>
              </a:tr>
              <a:tr h="297180">
                <a:tc>
                  <a:txBody>
                    <a:bodyPr/>
                    <a:lstStyle/>
                    <a:p>
                      <a:pPr algn="l"/>
                      <a:r>
                        <a:rPr sz="1100" b="0">
                          <a:solidFill>
                            <a:srgbClr val="4D4D4D"/>
                          </a:solidFill>
                          <a:latin typeface="Calibri"/>
                        </a:rPr>
                        <a:t>Minority group plays the lower budget</a:t>
                      </a:r>
                    </a:p>
                  </a:txBody>
                  <a:tcPr marL="54864" marR="54864" marT="27432" marB="27432">
                    <a:solidFill>
                      <a:srgbClr val="FFFFFF"/>
                    </a:solidFill>
                  </a:tcPr>
                </a:tc>
                <a:tc>
                  <a:txBody>
                    <a:bodyPr/>
                    <a:lstStyle/>
                    <a:p>
                      <a:pPr algn="ctr"/>
                      <a:r>
                        <a:rPr sz="1100" b="0">
                          <a:solidFill>
                            <a:srgbClr val="4D4D4D"/>
                          </a:solidFill>
                          <a:latin typeface="Calibri"/>
                        </a:rPr>
                        <a:t>both orientations for |G</a:t>
                      </a:r>
                      <a:r>
                        <a:rPr sz="1100" b="0" baseline="-25000">
                          <a:solidFill>
                            <a:srgbClr val="4D4D4D"/>
                          </a:solidFill>
                          <a:latin typeface="Calibri"/>
                        </a:rPr>
                        <a:t>1</a:t>
                      </a:r>
                      <a:r>
                        <a:rPr sz="1100" b="0">
                          <a:solidFill>
                            <a:srgbClr val="4D4D4D"/>
                          </a:solidFill>
                          <a:latin typeface="Calibri"/>
                        </a:rPr>
                        <a:t>| &lt; |G</a:t>
                      </a:r>
                      <a:r>
                        <a:rPr sz="1100" b="0" baseline="-25000">
                          <a:solidFill>
                            <a:srgbClr val="4D4D4D"/>
                          </a:solidFill>
                          <a:latin typeface="Calibri"/>
                        </a:rPr>
                        <a:t>2</a:t>
                      </a:r>
                      <a:r>
                        <a:rPr sz="1100" b="0">
                          <a:solidFill>
                            <a:srgbClr val="4D4D4D"/>
                          </a:solidFill>
                          <a:latin typeface="Calibri"/>
                        </a:rPr>
                        <a:t>|</a:t>
                      </a:r>
                    </a:p>
                  </a:txBody>
                  <a:tcPr marL="54864" marR="54864" marT="27432" marB="27432">
                    <a:solidFill>
                      <a:srgbClr val="FFFFFF"/>
                    </a:solidFill>
                  </a:tcPr>
                </a:tc>
                <a:tc>
                  <a:txBody>
                    <a:bodyPr/>
                    <a:lstStyle/>
                    <a:p>
                      <a:pPr algn="ctr"/>
                      <a:r>
                        <a:rPr sz="1100" b="0">
                          <a:solidFill>
                            <a:srgbClr val="4D4D4D"/>
                          </a:solidFill>
                          <a:latin typeface="Calibri"/>
                        </a:rPr>
                        <a:t>falsified</a:t>
                      </a:r>
                    </a:p>
                  </a:txBody>
                  <a:tcPr marL="54864" marR="54864" marT="27432" marB="27432">
                    <a:solidFill>
                      <a:srgbClr val="FFFFFF"/>
                    </a:solidFill>
                  </a:tcPr>
                </a:tc>
              </a:tr>
              <a:tr h="297180">
                <a:tc>
                  <a:txBody>
                    <a:bodyPr/>
                    <a:lstStyle/>
                    <a:p>
                      <a:pPr algn="l"/>
                      <a:r>
                        <a:rPr sz="1100" b="0">
                          <a:solidFill>
                            <a:srgbClr val="4D4D4D"/>
                          </a:solidFill>
                          <a:latin typeface="Calibri"/>
                        </a:rPr>
                        <a:t>Symmetric NE is the welfare-best</a:t>
                      </a:r>
                    </a:p>
                  </a:txBody>
                  <a:tcPr marL="54864" marR="54864" marT="27432" marB="27432">
                    <a:solidFill>
                      <a:srgbClr val="F2F4F7"/>
                    </a:solidFill>
                  </a:tcPr>
                </a:tc>
                <a:tc>
                  <a:txBody>
                    <a:bodyPr/>
                    <a:lstStyle/>
                    <a:p>
                      <a:pPr algn="ctr"/>
                      <a:r>
                        <a:rPr sz="1100" b="0">
                          <a:solidFill>
                            <a:srgbClr val="4D4D4D"/>
                          </a:solidFill>
                          <a:latin typeface="Calibri"/>
                        </a:rPr>
                        <a:t>least ΣA, but W = 0.64 vs 0.86 (frontier)</a:t>
                      </a:r>
                    </a:p>
                  </a:txBody>
                  <a:tcPr marL="54864" marR="54864" marT="27432" marB="27432">
                    <a:solidFill>
                      <a:srgbClr val="F2F4F7"/>
                    </a:solidFill>
                  </a:tcPr>
                </a:tc>
                <a:tc>
                  <a:txBody>
                    <a:bodyPr/>
                    <a:lstStyle/>
                    <a:p>
                      <a:pPr algn="ctr"/>
                      <a:r>
                        <a:rPr sz="1100" b="0">
                          <a:solidFill>
                            <a:srgbClr val="4D4D4D"/>
                          </a:solidFill>
                          <a:latin typeface="Calibri"/>
                        </a:rPr>
                        <a:t>falsified</a:t>
                      </a:r>
                    </a:p>
                  </a:txBody>
                  <a:tcPr marL="54864" marR="54864" marT="27432" marB="27432">
                    <a:solidFill>
                      <a:srgbClr val="F2F4F7"/>
                    </a:solidFill>
                  </a:tcPr>
                </a:tc>
              </a:tr>
              <a:tr h="297180">
                <a:tc>
                  <a:txBody>
                    <a:bodyPr/>
                    <a:lstStyle/>
                    <a:p>
                      <a:pPr algn="l"/>
                      <a:r>
                        <a:rPr sz="1100" b="0">
                          <a:solidFill>
                            <a:srgbClr val="4D4D4D"/>
                          </a:solidFill>
                          <a:latin typeface="Calibri"/>
                        </a:rPr>
                        <a:t>Exposed player compensated / loose player indifferent</a:t>
                      </a:r>
                    </a:p>
                  </a:txBody>
                  <a:tcPr marL="54864" marR="54864" marT="27432" marB="27432">
                    <a:solidFill>
                      <a:srgbClr val="FFFFFF"/>
                    </a:solidFill>
                  </a:tcPr>
                </a:tc>
                <a:tc>
                  <a:txBody>
                    <a:bodyPr/>
                    <a:lstStyle/>
                    <a:p>
                      <a:pPr algn="ctr"/>
                      <a:r>
                        <a:rPr sz="1100" b="0">
                          <a:solidFill>
                            <a:srgbClr val="4D4D4D"/>
                          </a:solidFill>
                          <a:latin typeface="Calibri"/>
                        </a:rPr>
                        <a:t>u = 0.25 vs 0.50; strictly wall-blocked</a:t>
                      </a:r>
                    </a:p>
                  </a:txBody>
                  <a:tcPr marL="54864" marR="54864" marT="27432" marB="27432">
                    <a:solidFill>
                      <a:srgbClr val="FFFFFF"/>
                    </a:solidFill>
                  </a:tcPr>
                </a:tc>
                <a:tc>
                  <a:txBody>
                    <a:bodyPr/>
                    <a:lstStyle/>
                    <a:p>
                      <a:pPr algn="ctr"/>
                      <a:r>
                        <a:rPr sz="1100" b="0">
                          <a:solidFill>
                            <a:srgbClr val="4D4D4D"/>
                          </a:solidFill>
                          <a:latin typeface="Calibri"/>
                        </a:rPr>
                        <a:t>falsified</a:t>
                      </a:r>
                    </a:p>
                  </a:txBody>
                  <a:tcPr marL="54864" marR="54864" marT="27432" marB="27432">
                    <a:solidFill>
                      <a:srgbClr val="FFFFFF"/>
                    </a:solidFill>
                  </a:tcPr>
                </a:tc>
              </a:tr>
              <a:tr h="297180">
                <a:tc>
                  <a:txBody>
                    <a:bodyPr/>
                    <a:lstStyle/>
                    <a:p>
                      <a:pPr algn="l"/>
                      <a:r>
                        <a:rPr sz="1100" b="0">
                          <a:solidFill>
                            <a:srgbClr val="4D4D4D"/>
                          </a:solidFill>
                          <a:latin typeface="Calibri"/>
                        </a:rPr>
                        <a:t>Ordinal-potential 4-cycle (K = 22)</a:t>
                      </a:r>
                    </a:p>
                  </a:txBody>
                  <a:tcPr marL="54864" marR="54864" marT="27432" marB="27432">
                    <a:solidFill>
                      <a:srgbClr val="F2F4F7"/>
                    </a:solidFill>
                  </a:tcPr>
                </a:tc>
                <a:tc>
                  <a:txBody>
                    <a:bodyPr/>
                    <a:lstStyle/>
                    <a:p>
                      <a:pPr algn="ctr"/>
                      <a:r>
                        <a:rPr sz="1100" b="0">
                          <a:solidFill>
                            <a:srgbClr val="4D4D4D"/>
                          </a:solidFill>
                          <a:latin typeface="Calibri"/>
                        </a:rPr>
                        <a:t>gone; 6-cycle on K = 200 replaces it</a:t>
                      </a:r>
                    </a:p>
                  </a:txBody>
                  <a:tcPr marL="54864" marR="54864" marT="27432" marB="27432">
                    <a:solidFill>
                      <a:srgbClr val="F2F4F7"/>
                    </a:solidFill>
                  </a:tcPr>
                </a:tc>
                <a:tc>
                  <a:txBody>
                    <a:bodyPr/>
                    <a:lstStyle/>
                    <a:p>
                      <a:pPr algn="ctr"/>
                      <a:r>
                        <a:rPr sz="1100" b="0">
                          <a:solidFill>
                            <a:srgbClr val="4D4D4D"/>
                          </a:solidFill>
                          <a:latin typeface="Calibri"/>
                        </a:rPr>
                        <a:t>falsified → fixable</a:t>
                      </a:r>
                    </a:p>
                  </a:txBody>
                  <a:tcPr marL="54864" marR="54864" marT="27432" marB="27432">
                    <a:solidFill>
                      <a:srgbClr val="F2F4F7"/>
                    </a:solidFill>
                  </a:tcPr>
                </a:tc>
              </a:tr>
              <a:tr h="297180">
                <a:tc>
                  <a:txBody>
                    <a:bodyPr/>
                    <a:lstStyle/>
                    <a:p>
                      <a:pPr algn="l"/>
                      <a:r>
                        <a:rPr sz="1100" b="0">
                          <a:solidFill>
                            <a:srgbClr val="4D4D4D"/>
                          </a:solidFill>
                          <a:latin typeface="Calibri"/>
                        </a:rPr>
                        <a:t>n-player: 83% sorting at n = 10, A ratio 480 → 75</a:t>
                      </a:r>
                    </a:p>
                  </a:txBody>
                  <a:tcPr marL="54864" marR="54864" marT="27432" marB="27432">
                    <a:solidFill>
                      <a:srgbClr val="FFFFFF"/>
                    </a:solidFill>
                  </a:tcPr>
                </a:tc>
                <a:tc>
                  <a:txBody>
                    <a:bodyPr/>
                    <a:lstStyle/>
                    <a:p>
                      <a:pPr algn="ctr"/>
                      <a:r>
                        <a:rPr sz="1100" b="0">
                          <a:solidFill>
                            <a:srgbClr val="4D4D4D"/>
                          </a:solidFill>
                          <a:latin typeface="Calibri"/>
                        </a:rPr>
                        <a:t>100% at all n; ratios 44–330</a:t>
                      </a:r>
                    </a:p>
                  </a:txBody>
                  <a:tcPr marL="54864" marR="54864" marT="27432" marB="27432">
                    <a:solidFill>
                      <a:srgbClr val="FFFFFF"/>
                    </a:solidFill>
                  </a:tcPr>
                </a:tc>
                <a:tc>
                  <a:txBody>
                    <a:bodyPr/>
                    <a:lstStyle/>
                    <a:p>
                      <a:pPr algn="ctr"/>
                      <a:r>
                        <a:rPr sz="1100" b="0">
                          <a:solidFill>
                            <a:srgbClr val="4D4D4D"/>
                          </a:solidFill>
                          <a:latin typeface="Calibri"/>
                        </a:rPr>
                        <a:t>falsified</a:t>
                      </a:r>
                    </a:p>
                  </a:txBody>
                  <a:tcPr marL="54864" marR="54864" marT="27432" marB="27432">
                    <a:solidFill>
                      <a:srgbClr val="FFFFFF"/>
                    </a:solidFill>
                  </a:tcPr>
                </a:tc>
              </a:tr>
              <a:tr h="297180">
                <a:tc>
                  <a:txBody>
                    <a:bodyPr/>
                    <a:lstStyle/>
                    <a:p>
                      <a:pPr algn="l"/>
                      <a:r>
                        <a:rPr sz="1100" b="0">
                          <a:solidFill>
                            <a:srgbClr val="4D4D4D"/>
                          </a:solidFill>
                          <a:latin typeface="Calibri"/>
                        </a:rPr>
                        <a:t>Sensitivity appendix, non-DSIC example (2.92 / 1.21)</a:t>
                      </a:r>
                    </a:p>
                  </a:txBody>
                  <a:tcPr marL="54864" marR="54864" marT="27432" marB="27432">
                    <a:solidFill>
                      <a:srgbClr val="F2F4F7"/>
                    </a:solidFill>
                  </a:tcPr>
                </a:tc>
                <a:tc>
                  <a:txBody>
                    <a:bodyPr/>
                    <a:lstStyle/>
                    <a:p>
                      <a:pPr algn="ctr"/>
                      <a:r>
                        <a:rPr sz="1100" b="0">
                          <a:solidFill>
                            <a:srgbClr val="4D4D4D"/>
                          </a:solidFill>
                          <a:latin typeface="Calibri"/>
                        </a:rPr>
                        <a:t>7 → 43 NE; 1.82 / 3.43 (direction flips)</a:t>
                      </a:r>
                    </a:p>
                  </a:txBody>
                  <a:tcPr marL="54864" marR="54864" marT="27432" marB="27432">
                    <a:solidFill>
                      <a:srgbClr val="F2F4F7"/>
                    </a:solidFill>
                  </a:tcPr>
                </a:tc>
                <a:tc>
                  <a:txBody>
                    <a:bodyPr/>
                    <a:lstStyle/>
                    <a:p>
                      <a:pPr algn="ctr"/>
                      <a:r>
                        <a:rPr sz="1100" b="0">
                          <a:solidFill>
                            <a:srgbClr val="4D4D4D"/>
                          </a:solidFill>
                          <a:latin typeface="Calibri"/>
                        </a:rPr>
                        <a:t>falsified</a:t>
                      </a:r>
                    </a:p>
                  </a:txBody>
                  <a:tcPr marL="54864" marR="54864" marT="27432" marB="27432">
                    <a:solidFill>
                      <a:srgbClr val="F2F4F7"/>
                    </a:solidFill>
                  </a:tcPr>
                </a:tc>
              </a:tr>
              <a:tr h="297180">
                <a:tc>
                  <a:txBody>
                    <a:bodyPr/>
                    <a:lstStyle/>
                    <a:p>
                      <a:pPr algn="l"/>
                      <a:r>
                        <a:rPr sz="1100" b="0">
                          <a:solidFill>
                            <a:srgbClr val="4D4D4D"/>
                          </a:solidFill>
                          <a:latin typeface="Calibri"/>
                        </a:rPr>
                        <a:t>λ = 2: no pure NE</a:t>
                      </a:r>
                    </a:p>
                  </a:txBody>
                  <a:tcPr marL="54864" marR="54864" marT="27432" marB="27432">
                    <a:solidFill>
                      <a:srgbClr val="FFFFFF"/>
                    </a:solidFill>
                  </a:tcPr>
                </a:tc>
                <a:tc>
                  <a:txBody>
                    <a:bodyPr/>
                    <a:lstStyle/>
                    <a:p>
                      <a:pPr algn="ctr"/>
                      <a:r>
                        <a:rPr sz="1100" b="0">
                          <a:solidFill>
                            <a:srgbClr val="4D4D4D"/>
                          </a:solidFill>
                          <a:latin typeface="Calibri"/>
                        </a:rPr>
                        <a:t>761 Rényi orders → pure-NE cluster</a:t>
                      </a:r>
                    </a:p>
                  </a:txBody>
                  <a:tcPr marL="54864" marR="54864" marT="27432" marB="27432">
                    <a:solidFill>
                      <a:srgbClr val="FFFFFF"/>
                    </a:solidFill>
                  </a:tcPr>
                </a:tc>
                <a:tc>
                  <a:txBody>
                    <a:bodyPr/>
                    <a:lstStyle/>
                    <a:p>
                      <a:pPr algn="ctr"/>
                      <a:r>
                        <a:rPr sz="1100" b="0">
                          <a:solidFill>
                            <a:srgbClr val="4D4D4D"/>
                          </a:solidFill>
                          <a:latin typeface="Calibri"/>
                        </a:rPr>
                        <a:t>scoped</a:t>
                      </a:r>
                    </a:p>
                  </a:txBody>
                  <a:tcPr marL="54864" marR="54864" marT="27432" marB="27432">
                    <a:solidFill>
                      <a:srgbClr val="FFFFFF"/>
                    </a:solidFill>
                  </a:tcPr>
                </a:tc>
              </a:tr>
              <a:tr h="297180">
                <a:tc>
                  <a:txBody>
                    <a:bodyPr/>
                    <a:lstStyle/>
                    <a:p>
                      <a:pPr algn="l"/>
                      <a:r>
                        <a:rPr sz="1100" b="0">
                          <a:solidFill>
                            <a:srgbClr val="4D4D4D"/>
                          </a:solidFill>
                          <a:latin typeface="Calibri"/>
                        </a:rPr>
                        <a:t>BR-PEG regret, H1 measured instance</a:t>
                      </a:r>
                    </a:p>
                  </a:txBody>
                  <a:tcPr marL="54864" marR="54864" marT="27432" marB="27432">
                    <a:solidFill>
                      <a:srgbClr val="F2F4F7"/>
                    </a:solidFill>
                  </a:tcPr>
                </a:tc>
                <a:tc>
                  <a:txBody>
                    <a:bodyPr/>
                    <a:lstStyle/>
                    <a:p>
                      <a:pPr algn="ctr"/>
                      <a:r>
                        <a:rPr sz="1100" b="0">
                          <a:solidFill>
                            <a:srgbClr val="4D4D4D"/>
                          </a:solidFill>
                          <a:latin typeface="Calibri"/>
                        </a:rPr>
                        <a:t>pre-fix runs, not re-run</a:t>
                      </a:r>
                    </a:p>
                  </a:txBody>
                  <a:tcPr marL="54864" marR="54864" marT="27432" marB="27432">
                    <a:solidFill>
                      <a:srgbClr val="F2F4F7"/>
                    </a:solidFill>
                  </a:tcPr>
                </a:tc>
                <a:tc>
                  <a:txBody>
                    <a:bodyPr/>
                    <a:lstStyle/>
                    <a:p>
                      <a:pPr algn="ctr"/>
                      <a:r>
                        <a:rPr sz="1100" b="0">
                          <a:solidFill>
                            <a:srgbClr val="4D4D4D"/>
                          </a:solidFill>
                          <a:latin typeface="Calibri"/>
                        </a:rPr>
                        <a:t>unverified</a:t>
                      </a:r>
                    </a:p>
                  </a:txBody>
                  <a:tcPr marL="54864" marR="54864" marT="27432" marB="27432">
                    <a:solidFill>
                      <a:srgbClr val="F2F4F7"/>
                    </a:solidFill>
                  </a:tcPr>
                </a:tc>
              </a:tr>
            </a:tbl>
          </a:graphicData>
        </a:graphic>
      </p:graphicFrame>
      <p:sp>
        <p:nvSpPr>
          <p:cNvPr id="8" name="Rectangle 7"/>
          <p:cNvSpPr/>
          <p:nvPr/>
        </p:nvSpPr>
        <p:spPr>
          <a:xfrm>
            <a:off x="548640" y="5349240"/>
            <a:ext cx="11109960" cy="1024128"/>
          </a:xfrm>
          <a:prstGeom prst="rect">
            <a:avLst/>
          </a:prstGeom>
          <a:solidFill>
            <a:srgbClr val="FF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349240"/>
            <a:ext cx="54864" cy="1024128"/>
          </a:xfrm>
          <a:prstGeom prst="rect">
            <a:avLst/>
          </a:prstGeom>
          <a:solidFill>
            <a:srgbClr val="FD8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5404103"/>
            <a:ext cx="10835640" cy="256032"/>
          </a:xfrm>
          <a:prstGeom prst="rect">
            <a:avLst/>
          </a:prstGeom>
          <a:noFill/>
        </p:spPr>
        <p:txBody>
          <a:bodyPr wrap="square" anchor="t" lIns="45720" rIns="45720" tIns="27432" bIns="27432">
            <a:spAutoFit/>
          </a:bodyPr>
          <a:lstStyle/>
          <a:p>
            <a:pPr algn="l">
              <a:spcAft>
                <a:spcPts val="500"/>
              </a:spcAft>
            </a:pPr>
            <a:r>
              <a:rPr sz="1050" b="1">
                <a:solidFill>
                  <a:srgbClr val="FD8C3B"/>
                </a:solidFill>
                <a:latin typeface="Calibri"/>
              </a:rPr>
              <a:t>IN PLAIN WORDS</a:t>
            </a:r>
          </a:p>
        </p:txBody>
      </p:sp>
      <p:sp>
        <p:nvSpPr>
          <p:cNvPr id="11" name="TextBox 10"/>
          <p:cNvSpPr txBox="1"/>
          <p:nvPr/>
        </p:nvSpPr>
        <p:spPr>
          <a:xfrm>
            <a:off x="713232" y="5650992"/>
            <a:ext cx="10835640" cy="676656"/>
          </a:xfrm>
          <a:prstGeom prst="rect">
            <a:avLst/>
          </a:prstGeom>
          <a:noFill/>
        </p:spPr>
        <p:txBody>
          <a:bodyPr wrap="square" anchor="t" lIns="45720" rIns="45720" tIns="27432" bIns="27432">
            <a:spAutoFit/>
          </a:bodyPr>
          <a:lstStyle/>
          <a:p>
            <a:pPr algn="l">
              <a:spcAft>
                <a:spcPts val="500"/>
              </a:spcAft>
            </a:pPr>
            <a:r>
              <a:rPr sz="1200" b="0">
                <a:solidFill>
                  <a:srgbClr val="4D4D4D"/>
                </a:solidFill>
                <a:latin typeface="Calibri"/>
              </a:rPr>
              <a:t>The paper grew over many drafts, and a solver bug fixed in July shifted several numbers. The core story survives: others set your risk, equal groups split into a hider and a carrier, and the least privacy-minded group is exposed. These rows must be fixed. Full list with line references: PAPER_AUDIT.md.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